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de7289e2-6c7f-1f22-a086-232432b24ba0}">
          <p14:sldIdLst>
            <p14:sldId id="256"/>
          </p14:sldIdLst>
        </p14:section>
        <p14:section name="Problem &amp; solution" id="{342c4f2f-f950-bded-fc03-4f454b2b8ec2}">
          <p14:sldIdLst>
            <p14:sldId id="257"/>
            <p14:sldId id="258"/>
            <p14:sldId id="259"/>
          </p14:sldIdLst>
        </p14:section>
        <p14:section name="Market &amp; business" id="{1f26fa3f-56db-3dd0-8274-36998bc3d8f2}">
          <p14:sldIdLst>
            <p14:sldId id="260"/>
            <p14:sldId id="261"/>
            <p14:sldId id="262"/>
            <p14:sldId id="263"/>
          </p14:sldIdLst>
        </p14:section>
        <p14:section name="Team &amp; traction" id="{f39b8999-8295-9fb1-118a-cf6c1540ef28}">
          <p14:sldIdLst>
            <p14:sldId id="264"/>
            <p14:sldId id="265"/>
          </p14:sldIdLst>
        </p14:section>
        <p14:section name="Ask" id="{c0ff66b7-9f20-a31c-76b5-fee2941a67d2}">
          <p14:sldIdLst>
            <p14:sldId id="266"/>
          </p14:sldIdLst>
        </p14:section>
        <p14:section name="Close" id="{43abdd10-d864-4f12-237b-139708ef5759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Cover: MwaniMlinzi AI by Bahari Ops — early warning and harvest advice for Zanzibar's seaweed farmers on any phone.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44733"/>
            <a:ext cx="12191695" cy="313267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Text 1"/>
          <p:cNvSpPr/>
          <p:nvPr/>
        </p:nvSpPr>
        <p:spPr>
          <a:xfrm>
            <a:off x="550333" y="6587067"/>
            <a:ext cx="4572000" cy="220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</a:rPr>
              <a:t>MwaniMlinzi AI · Bahari Ops · Akili ya Bahari</a:t>
            </a:r>
            <a:endParaRPr lang="en-US" sz="800" dirty="0"/>
          </a:p>
        </p:txBody>
      </p:sp>
      <p:sp>
        <p:nvSpPr>
          <p:cNvPr id="4" name="Text 2"/>
          <p:cNvSpPr/>
          <p:nvPr>
            <p:ph idx="102" type="body" hasCustomPrompt="1"/>
          </p:nvPr>
        </p:nvSpPr>
        <p:spPr>
          <a:xfrm>
            <a:off x="550333" y="423333"/>
            <a:ext cx="7620000" cy="355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SECTION</a:t>
            </a:r>
            <a:endParaRPr lang="en-US" sz="20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550333" y="804333"/>
            <a:ext cx="11099800" cy="440267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Slide title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6667" y="6587067"/>
            <a:ext cx="643467" cy="220133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44733"/>
            <a:ext cx="12191695" cy="313267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Text 1"/>
          <p:cNvSpPr/>
          <p:nvPr/>
        </p:nvSpPr>
        <p:spPr>
          <a:xfrm>
            <a:off x="550333" y="6587067"/>
            <a:ext cx="4572000" cy="220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</a:rPr>
              <a:t>MwaniMlinzi AI · Bahari Ops · Akili ya Bahari</a:t>
            </a:r>
            <a:endParaRPr lang="en-US" sz="8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1862667" y="338667"/>
            <a:ext cx="8466667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63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63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Title</a:t>
            </a:r>
            <a:endParaRPr lang="en-US" sz="6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6667" y="6587067"/>
            <a:ext cx="643467" cy="220133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k">
    <p:bg>
      <p:bgPr>
        <a:solidFill>
          <a:srgbClr val="DDE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">
    <p:bg>
      <p:bgPr>
        <a:solidFill>
          <a:srgbClr val="2F4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6667" y="6587067"/>
            <a:ext cx="643467" cy="220133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image" Target="../media/image-9-4.jpg"/><Relationship Id="rId5" Type="http://schemas.openxmlformats.org/officeDocument/2006/relationships/image" Target="../media/image-9-5.jpg"/><Relationship Id="rId6" Type="http://schemas.openxmlformats.org/officeDocument/2006/relationships/image" Target="../media/image-9-6.jp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1354667" y="778933"/>
            <a:ext cx="2878667" cy="440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100" b="1" dirty="0">
                <a:solidFill>
                  <a:srgbClr val="F5F6FB"/>
                </a:solidFill>
              </a:rPr>
              <a:t>BAHARI OPS</a:t>
            </a:r>
            <a:endParaRPr lang="en-US" sz="2100" dirty="0"/>
          </a:p>
        </p:txBody>
      </p:sp>
      <p:sp>
        <p:nvSpPr>
          <p:cNvPr id="3" name="Text-2"/>
          <p:cNvSpPr txBox="1"/>
          <p:nvPr/>
        </p:nvSpPr>
        <p:spPr>
          <a:xfrm>
            <a:off x="152400" y="2286000"/>
            <a:ext cx="6451600" cy="948267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2700000">
              <a:srgbClr val="000000">
                <a:alpha val="45000"/>
              </a:srgbClr>
            </a:outerShdw>
          </a:effectLst>
        </p:spPr>
        <p:txBody>
          <a:bodyPr wrap="non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6100" b="1" dirty="0">
                <a:solidFill>
                  <a:schemeClr val="bg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MWANI MLINZI AI</a:t>
            </a:r>
            <a:endParaRPr lang="en-US" sz="6100" dirty="0"/>
          </a:p>
        </p:txBody>
      </p:sp>
      <p:sp>
        <p:nvSpPr>
          <p:cNvPr id="4" name="Text-3"/>
          <p:cNvSpPr txBox="1"/>
          <p:nvPr/>
        </p:nvSpPr>
        <p:spPr>
          <a:xfrm>
            <a:off x="677333" y="3725333"/>
            <a:ext cx="4064000" cy="1185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Early warning and harvest advice for Zanzibar's seaweed farmers on any phone.</a:t>
            </a:r>
            <a:endParaRPr lang="en-US" sz="1600" dirty="0"/>
          </a:p>
        </p:txBody>
      </p:sp>
      <p:sp>
        <p:nvSpPr>
          <p:cNvPr id="5" name="Text-4"/>
          <p:cNvSpPr txBox="1"/>
          <p:nvPr/>
        </p:nvSpPr>
        <p:spPr>
          <a:xfrm>
            <a:off x="1016000" y="6011333"/>
            <a:ext cx="3386667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chemeClr val="bg1"/>
                </a:solidFill>
              </a:rPr>
              <a:t>salhak653@gmail.com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50333" y="423333"/>
            <a:ext cx="762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PROBLEM</a:t>
            </a:r>
            <a:endParaRPr lang="en-US" sz="20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50333" y="804333"/>
            <a:ext cx="11099800" cy="440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25,000 seaweed farmers carry the ocean's risk alone</a:t>
            </a:r>
            <a:endParaRPr lang="en-US" sz="2600" dirty="0"/>
          </a:p>
        </p:txBody>
      </p:sp>
      <p:sp>
        <p:nvSpPr>
          <p:cNvPr id="4" name="Text-5"/>
          <p:cNvSpPr txBox="1"/>
          <p:nvPr/>
        </p:nvSpPr>
        <p:spPr>
          <a:xfrm>
            <a:off x="550333" y="1473200"/>
            <a:ext cx="10710333" cy="49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6B6B6B"/>
                </a:solidFill>
              </a:rPr>
              <a:t>About 25,000 Zanzibar seaweed farmers — roughly 80% women — face warming seas, disease and price swings with no farm-specific advice. Output is back (19,716 t in 2024 → 20,075 t in 2025); the value isn't.</a:t>
            </a:r>
            <a:endParaRPr lang="en-US" sz="1400" dirty="0"/>
          </a:p>
        </p:txBody>
      </p:sp>
      <p:sp>
        <p:nvSpPr>
          <p:cNvPr id="5" name="Card-6"/>
          <p:cNvSpPr/>
          <p:nvPr/>
        </p:nvSpPr>
        <p:spPr>
          <a:xfrm>
            <a:off x="541867" y="2463800"/>
            <a:ext cx="2616200" cy="1972733"/>
          </a:xfrm>
          <a:prstGeom prst="rect">
            <a:avLst/>
          </a:prstGeom>
          <a:solidFill>
            <a:srgbClr val="F5F5F5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6" name="Text-7"/>
          <p:cNvSpPr txBox="1"/>
          <p:nvPr/>
        </p:nvSpPr>
        <p:spPr>
          <a:xfrm>
            <a:off x="821267" y="2692400"/>
            <a:ext cx="2175933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chemeClr val="accent2"/>
                </a:solidFill>
              </a:rPr>
              <a:t>82.9%</a:t>
            </a:r>
            <a:endParaRPr lang="en-US" sz="4000" dirty="0"/>
          </a:p>
        </p:txBody>
      </p:sp>
      <p:sp>
        <p:nvSpPr>
          <p:cNvPr id="7" name="Text-8"/>
          <p:cNvSpPr txBox="1"/>
          <p:nvPr/>
        </p:nvSpPr>
        <p:spPr>
          <a:xfrm>
            <a:off x="821267" y="3539067"/>
            <a:ext cx="2091267" cy="524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keep no production records</a:t>
            </a:r>
            <a:endParaRPr lang="en-US" sz="1400" dirty="0"/>
          </a:p>
        </p:txBody>
      </p:sp>
      <p:sp>
        <p:nvSpPr>
          <p:cNvPr id="8" name="Card-9"/>
          <p:cNvSpPr/>
          <p:nvPr/>
        </p:nvSpPr>
        <p:spPr>
          <a:xfrm>
            <a:off x="3369733" y="2463800"/>
            <a:ext cx="2616200" cy="1972733"/>
          </a:xfrm>
          <a:prstGeom prst="rect">
            <a:avLst/>
          </a:prstGeom>
          <a:solidFill>
            <a:srgbClr val="F5F5F5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9" name="Text-10"/>
          <p:cNvSpPr txBox="1"/>
          <p:nvPr/>
        </p:nvSpPr>
        <p:spPr>
          <a:xfrm>
            <a:off x="3649133" y="2692400"/>
            <a:ext cx="2175933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chemeClr val="accent2"/>
                </a:solidFill>
              </a:rPr>
              <a:t>~40%</a:t>
            </a:r>
            <a:endParaRPr lang="en-US" sz="4000" dirty="0"/>
          </a:p>
        </p:txBody>
      </p:sp>
      <p:sp>
        <p:nvSpPr>
          <p:cNvPr id="10" name="Text-11"/>
          <p:cNvSpPr txBox="1"/>
          <p:nvPr/>
        </p:nvSpPr>
        <p:spPr>
          <a:xfrm>
            <a:off x="3649133" y="3539067"/>
            <a:ext cx="2091267" cy="524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dry seaweed directly on the ground</a:t>
            </a:r>
            <a:endParaRPr lang="en-US" sz="1400" dirty="0"/>
          </a:p>
        </p:txBody>
      </p:sp>
      <p:sp>
        <p:nvSpPr>
          <p:cNvPr id="11" name="Card-12"/>
          <p:cNvSpPr/>
          <p:nvPr/>
        </p:nvSpPr>
        <p:spPr>
          <a:xfrm>
            <a:off x="6206067" y="2463800"/>
            <a:ext cx="2616200" cy="1972733"/>
          </a:xfrm>
          <a:prstGeom prst="rect">
            <a:avLst/>
          </a:prstGeom>
          <a:solidFill>
            <a:srgbClr val="F5F5F5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2" name="Text-13"/>
          <p:cNvSpPr txBox="1"/>
          <p:nvPr/>
        </p:nvSpPr>
        <p:spPr>
          <a:xfrm>
            <a:off x="6485467" y="2692400"/>
            <a:ext cx="2175933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chemeClr val="accent2"/>
                </a:solidFill>
              </a:rPr>
              <a:t>5.7%</a:t>
            </a:r>
            <a:endParaRPr lang="en-US" sz="4000" dirty="0"/>
          </a:p>
        </p:txBody>
      </p:sp>
      <p:sp>
        <p:nvSpPr>
          <p:cNvPr id="13" name="Text-14"/>
          <p:cNvSpPr txBox="1"/>
          <p:nvPr/>
        </p:nvSpPr>
        <p:spPr>
          <a:xfrm>
            <a:off x="6485467" y="3539067"/>
            <a:ext cx="2091267" cy="524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know the common diseases well</a:t>
            </a:r>
            <a:endParaRPr lang="en-US" sz="1400" dirty="0"/>
          </a:p>
        </p:txBody>
      </p:sp>
      <p:sp>
        <p:nvSpPr>
          <p:cNvPr id="14" name="Card-15"/>
          <p:cNvSpPr/>
          <p:nvPr/>
        </p:nvSpPr>
        <p:spPr>
          <a:xfrm>
            <a:off x="9033933" y="2463800"/>
            <a:ext cx="2616200" cy="1972733"/>
          </a:xfrm>
          <a:prstGeom prst="rect">
            <a:avLst/>
          </a:prstGeom>
          <a:solidFill>
            <a:srgbClr val="F5F5F5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5" name="Text-16"/>
          <p:cNvSpPr txBox="1"/>
          <p:nvPr/>
        </p:nvSpPr>
        <p:spPr>
          <a:xfrm>
            <a:off x="9313333" y="2692400"/>
            <a:ext cx="2175933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chemeClr val="accent2"/>
                </a:solidFill>
              </a:rPr>
              <a:t>94.3%</a:t>
            </a:r>
            <a:endParaRPr lang="en-US" sz="4000" dirty="0"/>
          </a:p>
        </p:txBody>
      </p:sp>
      <p:sp>
        <p:nvSpPr>
          <p:cNvPr id="16" name="Text-17"/>
          <p:cNvSpPr txBox="1"/>
          <p:nvPr/>
        </p:nvSpPr>
        <p:spPr>
          <a:xfrm>
            <a:off x="9313333" y="3539067"/>
            <a:ext cx="2091267" cy="524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do no value addition</a:t>
            </a:r>
            <a:endParaRPr lang="en-US" sz="1400" dirty="0"/>
          </a:p>
        </p:txBody>
      </p:sp>
      <p:sp>
        <p:nvSpPr>
          <p:cNvPr id="17" name="Callout-18"/>
          <p:cNvSpPr/>
          <p:nvPr/>
        </p:nvSpPr>
        <p:spPr>
          <a:xfrm>
            <a:off x="541867" y="4792133"/>
            <a:ext cx="11108267" cy="10668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8" name="Text-19"/>
          <p:cNvSpPr txBox="1"/>
          <p:nvPr/>
        </p:nvSpPr>
        <p:spPr>
          <a:xfrm>
            <a:off x="914400" y="4910667"/>
            <a:ext cx="10430933" cy="829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dirty="0">
                <a:solidFill>
                  <a:schemeClr val="bg1"/>
                </a:solidFill>
              </a:rPr>
              <a:t>Ocean forecasts and expertise exist. </a:t>
            </a:r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chemeClr val="accent2"/>
                </a:solidFill>
              </a:rPr>
              <a:t>What's missing is the step from information to a farm action.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6667" y="6587067"/>
            <a:ext cx="643467" cy="220133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50333" y="423333"/>
            <a:ext cx="762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SOLUTION</a:t>
            </a:r>
            <a:endParaRPr lang="en-US" sz="20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50333" y="804333"/>
            <a:ext cx="11099800" cy="440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One farm-level question, answered every day</a:t>
            </a:r>
            <a:endParaRPr lang="en-US" sz="2600" dirty="0"/>
          </a:p>
        </p:txBody>
      </p:sp>
      <p:sp>
        <p:nvSpPr>
          <p:cNvPr id="4" name="Question-20"/>
          <p:cNvSpPr/>
          <p:nvPr/>
        </p:nvSpPr>
        <p:spPr>
          <a:xfrm>
            <a:off x="541867" y="1549400"/>
            <a:ext cx="11108267" cy="1202267"/>
          </a:xfrm>
          <a:prstGeom prst="roundRect">
            <a:avLst>
              <a:gd name="adj" fmla="val 4563"/>
            </a:avLst>
          </a:prstGeom>
          <a:solidFill>
            <a:srgbClr val="EAF1E9"/>
          </a:solidFill>
          <a:ln/>
        </p:spPr>
      </p:sp>
      <p:sp>
        <p:nvSpPr>
          <p:cNvPr id="5" name="Text-21"/>
          <p:cNvSpPr txBox="1"/>
          <p:nvPr/>
        </p:nvSpPr>
        <p:spPr>
          <a:xfrm>
            <a:off x="821267" y="1667933"/>
            <a:ext cx="679873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chemeClr val="accent4"/>
                </a:solidFill>
              </a:rPr>
              <a:t>THE QUESTION WE ANSWER FOR EVERY FARM</a:t>
            </a:r>
            <a:endParaRPr lang="en-US" sz="1100" dirty="0"/>
          </a:p>
        </p:txBody>
      </p:sp>
      <p:sp>
        <p:nvSpPr>
          <p:cNvPr id="6" name="Text-22"/>
          <p:cNvSpPr txBox="1"/>
          <p:nvPr/>
        </p:nvSpPr>
        <p:spPr>
          <a:xfrm>
            <a:off x="821267" y="2032000"/>
            <a:ext cx="10608733" cy="592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i="1" dirty="0">
                <a:solidFill>
                  <a:schemeClr val="tx1"/>
                </a:solidFill>
              </a:rPr>
              <a:t>“Given my farm, crop stage and today's ocean, what should I do in the next 24–72 hours to cut loss and raise the value of my harvest?”</a:t>
            </a:r>
            <a:endParaRPr lang="en-US" sz="1600" dirty="0"/>
          </a:p>
        </p:txBody>
      </p:sp>
      <p:sp>
        <p:nvSpPr>
          <p:cNvPr id="7" name="Card-23"/>
          <p:cNvSpPr/>
          <p:nvPr/>
        </p:nvSpPr>
        <p:spPr>
          <a:xfrm>
            <a:off x="541867" y="3056467"/>
            <a:ext cx="3530600" cy="2523067"/>
          </a:xfrm>
          <a:prstGeom prst="rect">
            <a:avLst/>
          </a:prstGeom>
          <a:solidFill>
            <a:srgbClr val="F5F5F5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8" name="Badge-24"/>
          <p:cNvSpPr/>
          <p:nvPr/>
        </p:nvSpPr>
        <p:spPr>
          <a:xfrm>
            <a:off x="821267" y="3335867"/>
            <a:ext cx="508000" cy="50800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-25"/>
          <p:cNvSpPr txBox="1"/>
          <p:nvPr/>
        </p:nvSpPr>
        <p:spPr>
          <a:xfrm>
            <a:off x="1507067" y="3386667"/>
            <a:ext cx="2421467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chemeClr val="tx1"/>
                </a:solidFill>
              </a:rPr>
              <a:t>Predict</a:t>
            </a:r>
            <a:endParaRPr lang="en-US" sz="1800" dirty="0"/>
          </a:p>
        </p:txBody>
      </p:sp>
      <p:sp>
        <p:nvSpPr>
          <p:cNvPr id="10" name="Text-26"/>
          <p:cNvSpPr txBox="1"/>
          <p:nvPr/>
        </p:nvSpPr>
        <p:spPr>
          <a:xfrm>
            <a:off x="821267" y="4047067"/>
            <a:ext cx="3022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Separate, explainable risk scores — heat &amp; disease, storm &amp; line damage, harvest window — from ocean signals, crop age and farmer reports.</a:t>
            </a:r>
            <a:endParaRPr lang="en-US" sz="1300" dirty="0"/>
          </a:p>
        </p:txBody>
      </p:sp>
      <p:sp>
        <p:nvSpPr>
          <p:cNvPr id="11" name="Card-27"/>
          <p:cNvSpPr/>
          <p:nvPr/>
        </p:nvSpPr>
        <p:spPr>
          <a:xfrm>
            <a:off x="4334933" y="3056467"/>
            <a:ext cx="3530600" cy="2523067"/>
          </a:xfrm>
          <a:prstGeom prst="rect">
            <a:avLst/>
          </a:prstGeom>
          <a:solidFill>
            <a:srgbClr val="F5F5F5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2" name="Badge-28"/>
          <p:cNvSpPr/>
          <p:nvPr/>
        </p:nvSpPr>
        <p:spPr>
          <a:xfrm>
            <a:off x="4614333" y="3335867"/>
            <a:ext cx="508000" cy="50800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-29"/>
          <p:cNvSpPr txBox="1"/>
          <p:nvPr/>
        </p:nvSpPr>
        <p:spPr>
          <a:xfrm>
            <a:off x="5300133" y="3386667"/>
            <a:ext cx="2421467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chemeClr val="tx1"/>
                </a:solidFill>
              </a:rPr>
              <a:t>Recommend</a:t>
            </a:r>
            <a:endParaRPr lang="en-US" sz="1800" dirty="0"/>
          </a:p>
        </p:txBody>
      </p:sp>
      <p:sp>
        <p:nvSpPr>
          <p:cNvPr id="14" name="Text-30"/>
          <p:cNvSpPr txBox="1"/>
          <p:nvPr/>
        </p:nvSpPr>
        <p:spPr>
          <a:xfrm>
            <a:off x="4614333" y="4047067"/>
            <a:ext cx="3022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Actions come only from an extension-approved library — inspect, retie, harvest early. No AI-invented farming advice.</a:t>
            </a:r>
            <a:endParaRPr lang="en-US" sz="1300" dirty="0"/>
          </a:p>
        </p:txBody>
      </p:sp>
      <p:sp>
        <p:nvSpPr>
          <p:cNvPr id="15" name="Card-31"/>
          <p:cNvSpPr/>
          <p:nvPr/>
        </p:nvSpPr>
        <p:spPr>
          <a:xfrm>
            <a:off x="8119533" y="3056467"/>
            <a:ext cx="3530600" cy="2523067"/>
          </a:xfrm>
          <a:prstGeom prst="rect">
            <a:avLst/>
          </a:prstGeom>
          <a:solidFill>
            <a:srgbClr val="F5F5F5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6" name="Badge-32"/>
          <p:cNvSpPr/>
          <p:nvPr/>
        </p:nvSpPr>
        <p:spPr>
          <a:xfrm>
            <a:off x="8398933" y="3335867"/>
            <a:ext cx="508000" cy="50800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-33"/>
          <p:cNvSpPr txBox="1"/>
          <p:nvPr/>
        </p:nvSpPr>
        <p:spPr>
          <a:xfrm>
            <a:off x="9084733" y="3386667"/>
            <a:ext cx="2421467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chemeClr val="tx1"/>
                </a:solidFill>
              </a:rPr>
              <a:t>Deliver</a:t>
            </a:r>
            <a:endParaRPr lang="en-US" sz="1800" dirty="0"/>
          </a:p>
        </p:txBody>
      </p:sp>
      <p:sp>
        <p:nvSpPr>
          <p:cNvPr id="18" name="Text-34"/>
          <p:cNvSpPr txBox="1"/>
          <p:nvPr/>
        </p:nvSpPr>
        <p:spPr>
          <a:xfrm>
            <a:off x="8398933" y="4047067"/>
            <a:ext cx="3022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Short Kiswahili SMS and USSD for farmers; risk and supply views for cooperatives, extension officers and buyers.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6667" y="6587067"/>
            <a:ext cx="643467" cy="220133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50333" y="423333"/>
            <a:ext cx="762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WHY NOW</a:t>
            </a:r>
            <a:endParaRPr lang="en-US" sz="20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50333" y="804333"/>
            <a:ext cx="11099800" cy="440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Three things changed in the past year</a:t>
            </a:r>
            <a:endParaRPr lang="en-US" sz="2600" dirty="0"/>
          </a:p>
        </p:txBody>
      </p:sp>
      <p:sp>
        <p:nvSpPr>
          <p:cNvPr id="4" name="DateTag-35"/>
          <p:cNvSpPr/>
          <p:nvPr/>
        </p:nvSpPr>
        <p:spPr>
          <a:xfrm>
            <a:off x="541867" y="1591733"/>
            <a:ext cx="1837267" cy="787400"/>
          </a:xfrm>
          <a:prstGeom prst="roundRect">
            <a:avLst>
              <a:gd name="adj" fmla="val 6968"/>
            </a:avLst>
          </a:prstGeom>
          <a:solidFill>
            <a:schemeClr val="tx2"/>
          </a:solidFill>
          <a:ln/>
        </p:spPr>
      </p:sp>
      <p:sp>
        <p:nvSpPr>
          <p:cNvPr id="5" name="Text-36"/>
          <p:cNvSpPr txBox="1"/>
          <p:nvPr/>
        </p:nvSpPr>
        <p:spPr>
          <a:xfrm>
            <a:off x="541867" y="1591733"/>
            <a:ext cx="1837267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chemeClr val="bg1"/>
                </a:solidFill>
              </a:rPr>
              <a:t>AUG 2025</a:t>
            </a:r>
            <a:endParaRPr lang="en-US" sz="1200" dirty="0"/>
          </a:p>
        </p:txBody>
      </p:sp>
      <p:sp>
        <p:nvSpPr>
          <p:cNvPr id="6" name="Text-37"/>
          <p:cNvSpPr txBox="1"/>
          <p:nvPr/>
        </p:nvSpPr>
        <p:spPr>
          <a:xfrm>
            <a:off x="2700867" y="1608667"/>
            <a:ext cx="5765800" cy="287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chemeClr val="accent2"/>
                </a:solidFill>
              </a:rPr>
              <a:t>The funding</a:t>
            </a:r>
            <a:endParaRPr lang="en-US" sz="1600" dirty="0"/>
          </a:p>
        </p:txBody>
      </p:sp>
      <p:sp>
        <p:nvSpPr>
          <p:cNvPr id="7" name="Text-38"/>
          <p:cNvSpPr txBox="1"/>
          <p:nvPr/>
        </p:nvSpPr>
        <p:spPr>
          <a:xfrm>
            <a:off x="2700867" y="1913467"/>
            <a:ext cx="88984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UN / Joint SDG Fund programme: US$1.965M Phase I for 15,000 seaweed households in N. Unguja and Pemba — investing in co-ops, value addition, finance and markets.</a:t>
            </a:r>
            <a:endParaRPr lang="en-US" sz="1300" dirty="0"/>
          </a:p>
        </p:txBody>
      </p:sp>
      <p:sp>
        <p:nvSpPr>
          <p:cNvPr id="8" name="DateTag-39"/>
          <p:cNvSpPr/>
          <p:nvPr/>
        </p:nvSpPr>
        <p:spPr>
          <a:xfrm>
            <a:off x="541867" y="2650067"/>
            <a:ext cx="1837267" cy="787400"/>
          </a:xfrm>
          <a:prstGeom prst="roundRect">
            <a:avLst>
              <a:gd name="adj" fmla="val 6968"/>
            </a:avLst>
          </a:prstGeom>
          <a:solidFill>
            <a:schemeClr val="tx2"/>
          </a:solidFill>
          <a:ln/>
        </p:spPr>
      </p:sp>
      <p:sp>
        <p:nvSpPr>
          <p:cNvPr id="9" name="Text-40"/>
          <p:cNvSpPr txBox="1"/>
          <p:nvPr/>
        </p:nvSpPr>
        <p:spPr>
          <a:xfrm>
            <a:off x="541867" y="2650067"/>
            <a:ext cx="1837267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chemeClr val="bg1"/>
                </a:solidFill>
              </a:rPr>
              <a:t>2026</a:t>
            </a:r>
            <a:endParaRPr lang="en-US" sz="1200" dirty="0"/>
          </a:p>
        </p:txBody>
      </p:sp>
      <p:sp>
        <p:nvSpPr>
          <p:cNvPr id="10" name="Text-41"/>
          <p:cNvSpPr txBox="1"/>
          <p:nvPr/>
        </p:nvSpPr>
        <p:spPr>
          <a:xfrm>
            <a:off x="2700867" y="2667000"/>
            <a:ext cx="5765800" cy="287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chemeClr val="accent2"/>
                </a:solidFill>
              </a:rPr>
              <a:t>The data rails</a:t>
            </a:r>
            <a:endParaRPr lang="en-US" sz="1600" dirty="0"/>
          </a:p>
        </p:txBody>
      </p:sp>
      <p:sp>
        <p:nvSpPr>
          <p:cNvPr id="11" name="Text-42"/>
          <p:cNvSpPr txBox="1"/>
          <p:nvPr/>
        </p:nvSpPr>
        <p:spPr>
          <a:xfrm>
            <a:off x="2700867" y="2971800"/>
            <a:ext cx="88984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The Ministry of Blue Economy &amp; Fisheries is rolling out SAMAKI digital monitoring and began a fisheries census.</a:t>
            </a:r>
            <a:endParaRPr lang="en-US" sz="1300" dirty="0"/>
          </a:p>
        </p:txBody>
      </p:sp>
      <p:sp>
        <p:nvSpPr>
          <p:cNvPr id="12" name="DateTag-43"/>
          <p:cNvSpPr/>
          <p:nvPr/>
        </p:nvSpPr>
        <p:spPr>
          <a:xfrm>
            <a:off x="541867" y="3699933"/>
            <a:ext cx="1837267" cy="787400"/>
          </a:xfrm>
          <a:prstGeom prst="roundRect">
            <a:avLst>
              <a:gd name="adj" fmla="val 6968"/>
            </a:avLst>
          </a:prstGeom>
          <a:solidFill>
            <a:schemeClr val="tx2"/>
          </a:solidFill>
          <a:ln/>
        </p:spPr>
      </p:sp>
      <p:sp>
        <p:nvSpPr>
          <p:cNvPr id="13" name="Text-44"/>
          <p:cNvSpPr txBox="1"/>
          <p:nvPr/>
        </p:nvSpPr>
        <p:spPr>
          <a:xfrm>
            <a:off x="541867" y="3699933"/>
            <a:ext cx="1837267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chemeClr val="bg1"/>
                </a:solidFill>
              </a:rPr>
              <a:t>OPEN &amp; FREE</a:t>
            </a:r>
            <a:endParaRPr lang="en-US" sz="1200" dirty="0"/>
          </a:p>
        </p:txBody>
      </p:sp>
      <p:sp>
        <p:nvSpPr>
          <p:cNvPr id="14" name="Text-45"/>
          <p:cNvSpPr txBox="1"/>
          <p:nvPr/>
        </p:nvSpPr>
        <p:spPr>
          <a:xfrm>
            <a:off x="2700867" y="3716867"/>
            <a:ext cx="5765800" cy="287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chemeClr val="accent2"/>
                </a:solidFill>
              </a:rPr>
              <a:t>The ocean signal</a:t>
            </a:r>
            <a:endParaRPr lang="en-US" sz="1600" dirty="0"/>
          </a:p>
        </p:txBody>
      </p:sp>
      <p:sp>
        <p:nvSpPr>
          <p:cNvPr id="15" name="Text-46"/>
          <p:cNvSpPr txBox="1"/>
          <p:nvPr/>
        </p:nvSpPr>
        <p:spPr>
          <a:xfrm>
            <a:off x="2700867" y="4021667"/>
            <a:ext cx="88984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Copernicus marine data — sea temperature, waves, currents — supplies the key environmental inputs at zero cost.</a:t>
            </a:r>
            <a:endParaRPr lang="en-US" sz="1300" dirty="0"/>
          </a:p>
        </p:txBody>
      </p:sp>
      <p:sp>
        <p:nvSpPr>
          <p:cNvPr id="16" name="SoWhat-47"/>
          <p:cNvSpPr/>
          <p:nvPr/>
        </p:nvSpPr>
        <p:spPr>
          <a:xfrm>
            <a:off x="541867" y="4885267"/>
            <a:ext cx="11108267" cy="1066800"/>
          </a:xfrm>
          <a:prstGeom prst="roundRect">
            <a:avLst>
              <a:gd name="adj" fmla="val 5143"/>
            </a:avLst>
          </a:prstGeom>
          <a:solidFill>
            <a:srgbClr val="EAF1E9"/>
          </a:solidFill>
          <a:ln/>
        </p:spPr>
      </p:sp>
      <p:sp>
        <p:nvSpPr>
          <p:cNvPr id="17" name="Text-48"/>
          <p:cNvSpPr txBox="1"/>
          <p:nvPr/>
        </p:nvSpPr>
        <p:spPr>
          <a:xfrm>
            <a:off x="821267" y="4986867"/>
            <a:ext cx="2565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chemeClr val="accent4"/>
                </a:solidFill>
              </a:rPr>
              <a:t>SO WHAT</a:t>
            </a:r>
            <a:endParaRPr lang="en-US" sz="1100" dirty="0"/>
          </a:p>
        </p:txBody>
      </p:sp>
      <p:sp>
        <p:nvSpPr>
          <p:cNvPr id="18" name="Text-49"/>
          <p:cNvSpPr txBox="1"/>
          <p:nvPr/>
        </p:nvSpPr>
        <p:spPr>
          <a:xfrm>
            <a:off x="821267" y="5283200"/>
            <a:ext cx="10566400" cy="575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All three landed together — farm-specific advice is finally affordable to build, and a funded programme is ready to pay for it.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6667" y="6587067"/>
            <a:ext cx="643467" cy="220133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50333" y="423333"/>
            <a:ext cx="762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MARKET SIZE</a:t>
            </a:r>
            <a:endParaRPr lang="en-US" sz="20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50333" y="804333"/>
            <a:ext cx="11099800" cy="440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Bottom-up: farmers × a realistic annual fee</a:t>
            </a:r>
            <a:endParaRPr lang="en-US" sz="2600" dirty="0"/>
          </a:p>
        </p:txBody>
      </p:sp>
      <p:sp>
        <p:nvSpPr>
          <p:cNvPr id="4" name="TAM circle-50"/>
          <p:cNvSpPr/>
          <p:nvPr/>
        </p:nvSpPr>
        <p:spPr>
          <a:xfrm>
            <a:off x="728133" y="1549400"/>
            <a:ext cx="4402667" cy="4402667"/>
          </a:xfrm>
          <a:prstGeom prst="ellipse">
            <a:avLst/>
          </a:prstGeom>
          <a:solidFill>
            <a:schemeClr val="accent6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5" name="SAM circle-51"/>
          <p:cNvSpPr/>
          <p:nvPr/>
        </p:nvSpPr>
        <p:spPr>
          <a:xfrm>
            <a:off x="1320800" y="2734733"/>
            <a:ext cx="3208867" cy="3217333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9FB2C0"/>
            </a:solidFill>
            <a:prstDash val="solid"/>
          </a:ln>
        </p:spPr>
      </p:sp>
      <p:sp>
        <p:nvSpPr>
          <p:cNvPr id="6" name="SOM circle-52"/>
          <p:cNvSpPr/>
          <p:nvPr/>
        </p:nvSpPr>
        <p:spPr>
          <a:xfrm>
            <a:off x="2006600" y="4106333"/>
            <a:ext cx="1837267" cy="1845733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-53"/>
          <p:cNvSpPr txBox="1"/>
          <p:nvPr/>
        </p:nvSpPr>
        <p:spPr>
          <a:xfrm>
            <a:off x="1693333" y="1778000"/>
            <a:ext cx="2472267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chemeClr val="tx2"/>
                </a:solidFill>
              </a:rPr>
              <a:t>TAM</a:t>
            </a:r>
            <a:endParaRPr lang="en-US" sz="1100" dirty="0"/>
          </a:p>
        </p:txBody>
      </p:sp>
      <p:sp>
        <p:nvSpPr>
          <p:cNvPr id="8" name="Text-54"/>
          <p:cNvSpPr txBox="1"/>
          <p:nvPr/>
        </p:nvSpPr>
        <p:spPr>
          <a:xfrm>
            <a:off x="1693333" y="1964267"/>
            <a:ext cx="2472267" cy="321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chemeClr val="tx2"/>
                </a:solidFill>
              </a:rPr>
              <a:t>US$250k / yr</a:t>
            </a:r>
            <a:endParaRPr lang="en-US" sz="1800" dirty="0"/>
          </a:p>
        </p:txBody>
      </p:sp>
      <p:sp>
        <p:nvSpPr>
          <p:cNvPr id="9" name="Text-55"/>
          <p:cNvSpPr txBox="1"/>
          <p:nvPr/>
        </p:nvSpPr>
        <p:spPr>
          <a:xfrm>
            <a:off x="1693333" y="2963333"/>
            <a:ext cx="2472267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chemeClr val="tx2"/>
                </a:solidFill>
              </a:rPr>
              <a:t>SAM</a:t>
            </a:r>
            <a:endParaRPr lang="en-US" sz="1100" dirty="0"/>
          </a:p>
        </p:txBody>
      </p:sp>
      <p:sp>
        <p:nvSpPr>
          <p:cNvPr id="10" name="Text-56"/>
          <p:cNvSpPr txBox="1"/>
          <p:nvPr/>
        </p:nvSpPr>
        <p:spPr>
          <a:xfrm>
            <a:off x="1693333" y="3149600"/>
            <a:ext cx="2472267" cy="321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chemeClr val="tx2"/>
                </a:solidFill>
              </a:rPr>
              <a:t>US$150k / yr</a:t>
            </a:r>
            <a:endParaRPr lang="en-US" sz="1800" dirty="0"/>
          </a:p>
        </p:txBody>
      </p:sp>
      <p:sp>
        <p:nvSpPr>
          <p:cNvPr id="11" name="Text-57"/>
          <p:cNvSpPr txBox="1"/>
          <p:nvPr/>
        </p:nvSpPr>
        <p:spPr>
          <a:xfrm>
            <a:off x="2116667" y="4665133"/>
            <a:ext cx="1625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chemeClr val="bg1"/>
                </a:solidFill>
              </a:rPr>
              <a:t>SOM · YEAR 1</a:t>
            </a:r>
            <a:endParaRPr lang="en-US" sz="1000" dirty="0"/>
          </a:p>
        </p:txBody>
      </p:sp>
      <p:sp>
        <p:nvSpPr>
          <p:cNvPr id="12" name="Text-58"/>
          <p:cNvSpPr txBox="1"/>
          <p:nvPr/>
        </p:nvSpPr>
        <p:spPr>
          <a:xfrm>
            <a:off x="2116667" y="4842933"/>
            <a:ext cx="162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chemeClr val="bg1"/>
                </a:solidFill>
              </a:rPr>
              <a:t>US$9.8k</a:t>
            </a:r>
            <a:endParaRPr lang="en-US" sz="1700" dirty="0"/>
          </a:p>
        </p:txBody>
      </p:sp>
      <p:sp>
        <p:nvSpPr>
          <p:cNvPr id="13" name="Badge-59"/>
          <p:cNvSpPr/>
          <p:nvPr/>
        </p:nvSpPr>
        <p:spPr>
          <a:xfrm>
            <a:off x="5757333" y="1642533"/>
            <a:ext cx="787400" cy="78740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TAM</a:t>
            </a:r>
            <a:endParaRPr lang="en-US" sz="1300" dirty="0"/>
          </a:p>
        </p:txBody>
      </p:sp>
      <p:sp>
        <p:nvSpPr>
          <p:cNvPr id="14" name="Text-60"/>
          <p:cNvSpPr txBox="1"/>
          <p:nvPr/>
        </p:nvSpPr>
        <p:spPr>
          <a:xfrm>
            <a:off x="6764867" y="1642533"/>
            <a:ext cx="4885267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All Zanzibar seaweed farmers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6B6B6B"/>
                </a:solidFill>
              </a:rPr>
              <a:t>25,000 farmers × US$10 / yr</a:t>
            </a:r>
            <a:endParaRPr lang="en-US" sz="1500" dirty="0"/>
          </a:p>
        </p:txBody>
      </p:sp>
      <p:sp>
        <p:nvSpPr>
          <p:cNvPr id="15" name="Badge-61"/>
          <p:cNvSpPr/>
          <p:nvPr/>
        </p:nvSpPr>
        <p:spPr>
          <a:xfrm>
            <a:off x="5757333" y="2624667"/>
            <a:ext cx="787400" cy="78740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SAM</a:t>
            </a:r>
            <a:endParaRPr lang="en-US" sz="1300" dirty="0"/>
          </a:p>
        </p:txBody>
      </p:sp>
      <p:sp>
        <p:nvSpPr>
          <p:cNvPr id="16" name="Text-62"/>
          <p:cNvSpPr txBox="1"/>
          <p:nvPr/>
        </p:nvSpPr>
        <p:spPr>
          <a:xfrm>
            <a:off x="6764867" y="2624667"/>
            <a:ext cx="4885267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Households in the UN / Joint SDG programme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6B6B6B"/>
                </a:solidFill>
              </a:rPr>
              <a:t>15,000 households × US$10 / yr</a:t>
            </a:r>
            <a:endParaRPr lang="en-US" sz="1500" dirty="0"/>
          </a:p>
        </p:txBody>
      </p:sp>
      <p:sp>
        <p:nvSpPr>
          <p:cNvPr id="17" name="Badge-63"/>
          <p:cNvSpPr/>
          <p:nvPr/>
        </p:nvSpPr>
        <p:spPr>
          <a:xfrm>
            <a:off x="5757333" y="3615267"/>
            <a:ext cx="787400" cy="78740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SOM</a:t>
            </a:r>
            <a:endParaRPr lang="en-US" sz="1300" dirty="0"/>
          </a:p>
        </p:txBody>
      </p:sp>
      <p:sp>
        <p:nvSpPr>
          <p:cNvPr id="18" name="Text-64"/>
          <p:cNvSpPr txBox="1"/>
          <p:nvPr/>
        </p:nvSpPr>
        <p:spPr>
          <a:xfrm>
            <a:off x="6764867" y="3615267"/>
            <a:ext cx="4885267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Beachhead: one co-op cluster in N. Unguja or Pemba</a:t>
            </a:r>
            <a:endParaRPr lang="en-US" sz="15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6B6B6B"/>
                </a:solidFill>
              </a:rPr>
              <a:t>500 farmers × US$10 + 1 processor × US$400 / month</a:t>
            </a:r>
            <a:endParaRPr lang="en-US" sz="1500" dirty="0"/>
          </a:p>
        </p:txBody>
      </p:sp>
      <p:sp>
        <p:nvSpPr>
          <p:cNvPr id="19" name="Card-65"/>
          <p:cNvSpPr/>
          <p:nvPr/>
        </p:nvSpPr>
        <p:spPr>
          <a:xfrm>
            <a:off x="5757333" y="4749800"/>
            <a:ext cx="5884333" cy="1202267"/>
          </a:xfrm>
          <a:prstGeom prst="rect">
            <a:avLst/>
          </a:prstGeom>
          <a:solidFill>
            <a:srgbClr val="F5F5F5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0" name="Text-66"/>
          <p:cNvSpPr txBox="1"/>
          <p:nvPr/>
        </p:nvSpPr>
        <p:spPr>
          <a:xfrm>
            <a:off x="6036733" y="4868333"/>
            <a:ext cx="5350933" cy="973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chemeClr val="accent3"/>
                </a:solidFill>
              </a:rPr>
              <a:t>ON TOP  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Buyer intelligence (US$300–600 / month per processor), institutional licences (US$10k–25k / yr), then other marine aquaculture such as sea cucumber.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6667" y="6587067"/>
            <a:ext cx="643467" cy="220133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50333" y="423333"/>
            <a:ext cx="762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PRODUCT · HOW IT WORKS</a:t>
            </a:r>
            <a:endParaRPr lang="en-US" sz="20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50333" y="804333"/>
            <a:ext cx="11099800" cy="440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Dial, check, act — on a basic phone</a:t>
            </a:r>
            <a:endParaRPr lang="en-US" sz="2600" dirty="0"/>
          </a:p>
        </p:txBody>
      </p:sp>
      <p:pic>
        <p:nvPicPr>
          <p:cNvPr id="4" name="How it works diagram" descr="MwaniMlinzi AI how-it-works diagram: USSD and SMS flow on a basic phone, and the web app view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333" y="1549400"/>
            <a:ext cx="6587067" cy="4207933"/>
          </a:xfrm>
          <a:prstGeom prst="rect">
            <a:avLst/>
          </a:prstGeom>
        </p:spPr>
      </p:pic>
      <p:sp>
        <p:nvSpPr>
          <p:cNvPr id="5" name="Badge-67"/>
          <p:cNvSpPr/>
          <p:nvPr/>
        </p:nvSpPr>
        <p:spPr>
          <a:xfrm>
            <a:off x="7535333" y="1549400"/>
            <a:ext cx="474133" cy="465667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-68"/>
          <p:cNvSpPr txBox="1"/>
          <p:nvPr/>
        </p:nvSpPr>
        <p:spPr>
          <a:xfrm>
            <a:off x="8187267" y="1515533"/>
            <a:ext cx="3581400" cy="643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Dial *XXX#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6B6B"/>
                </a:solidFill>
              </a:rPr>
              <a:t>Any GSM phone, no data plan: Hali ya shamba, Tahadhari, Ripoti tatizo…</a:t>
            </a:r>
            <a:endParaRPr lang="en-US" sz="1400" dirty="0"/>
          </a:p>
        </p:txBody>
      </p:sp>
      <p:sp>
        <p:nvSpPr>
          <p:cNvPr id="7" name="Badge-69"/>
          <p:cNvSpPr/>
          <p:nvPr/>
        </p:nvSpPr>
        <p:spPr>
          <a:xfrm>
            <a:off x="7535333" y="2540000"/>
            <a:ext cx="474133" cy="465667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-70"/>
          <p:cNvSpPr txBox="1"/>
          <p:nvPr/>
        </p:nvSpPr>
        <p:spPr>
          <a:xfrm>
            <a:off x="8187267" y="2506133"/>
            <a:ext cx="3581400" cy="643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See the risk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6B6B"/>
                </a:solidFill>
              </a:rPr>
              <a:t>Location and level — e.g. Pemba · MODERATE: warmer sea, changing waves.</a:t>
            </a:r>
            <a:endParaRPr lang="en-US" sz="1400" dirty="0"/>
          </a:p>
        </p:txBody>
      </p:sp>
      <p:sp>
        <p:nvSpPr>
          <p:cNvPr id="9" name="Badge-71"/>
          <p:cNvSpPr/>
          <p:nvPr/>
        </p:nvSpPr>
        <p:spPr>
          <a:xfrm>
            <a:off x="7535333" y="3522133"/>
            <a:ext cx="474133" cy="465667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0" name="Text-72"/>
          <p:cNvSpPr txBox="1"/>
          <p:nvPr/>
        </p:nvSpPr>
        <p:spPr>
          <a:xfrm>
            <a:off x="8187267" y="3488267"/>
            <a:ext cx="3581400" cy="643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Get one approved action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6B6B"/>
                </a:solidFill>
              </a:rPr>
              <a:t>“Kagua mwani kesho asubuhi” — inspect lines &amp; anchors, watch for 72 h.</a:t>
            </a:r>
            <a:endParaRPr lang="en-US" sz="1400" dirty="0"/>
          </a:p>
        </p:txBody>
      </p:sp>
      <p:sp>
        <p:nvSpPr>
          <p:cNvPr id="11" name="Badge-73"/>
          <p:cNvSpPr/>
          <p:nvPr/>
        </p:nvSpPr>
        <p:spPr>
          <a:xfrm>
            <a:off x="7535333" y="4512733"/>
            <a:ext cx="474133" cy="465667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2" name="Text-74"/>
          <p:cNvSpPr txBox="1"/>
          <p:nvPr/>
        </p:nvSpPr>
        <p:spPr>
          <a:xfrm>
            <a:off x="8187267" y="4478867"/>
            <a:ext cx="3581400" cy="643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Report back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6B6B"/>
                </a:solidFill>
              </a:rPr>
              <a:t>Symptoms, action taken, harvest kg &amp; quality — the loop that trains the model.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6667" y="6587067"/>
            <a:ext cx="643467" cy="220133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50333" y="423333"/>
            <a:ext cx="762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BUSINESS MODEL</a:t>
            </a:r>
            <a:endParaRPr lang="en-US" sz="20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50333" y="804333"/>
            <a:ext cx="11099800" cy="440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Free for farmers. The value chain pays.</a:t>
            </a:r>
            <a:endParaRPr lang="en-US" sz="2600" dirty="0"/>
          </a:p>
        </p:txBody>
      </p:sp>
      <p:sp>
        <p:nvSpPr>
          <p:cNvPr id="4" name="Card-75"/>
          <p:cNvSpPr/>
          <p:nvPr/>
        </p:nvSpPr>
        <p:spPr>
          <a:xfrm>
            <a:off x="541867" y="1549400"/>
            <a:ext cx="5774267" cy="2159000"/>
          </a:xfrm>
          <a:prstGeom prst="rect">
            <a:avLst/>
          </a:prstGeom>
          <a:solidFill>
            <a:srgbClr val="F5F5F5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5" name="Text-76"/>
          <p:cNvSpPr txBox="1"/>
          <p:nvPr/>
        </p:nvSpPr>
        <p:spPr>
          <a:xfrm>
            <a:off x="821267" y="1710267"/>
            <a:ext cx="42587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chemeClr val="accent1"/>
                </a:solidFill>
              </a:rPr>
              <a:t>CORE STREAM AT SEED</a:t>
            </a:r>
            <a:endParaRPr lang="en-US" sz="1350" dirty="0"/>
          </a:p>
        </p:txBody>
      </p:sp>
      <p:sp>
        <p:nvSpPr>
          <p:cNvPr id="6" name="Text-77"/>
          <p:cNvSpPr txBox="1"/>
          <p:nvPr/>
        </p:nvSpPr>
        <p:spPr>
          <a:xfrm>
            <a:off x="821267" y="2082800"/>
            <a:ext cx="5274733" cy="389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200" b="1" dirty="0">
                <a:solidFill>
                  <a:schemeClr val="tx1"/>
                </a:solidFill>
              </a:rPr>
              <a:t>Programme / co-op licence</a:t>
            </a:r>
            <a:endParaRPr lang="en-US" sz="2200" dirty="0"/>
          </a:p>
        </p:txBody>
      </p:sp>
      <p:sp>
        <p:nvSpPr>
          <p:cNvPr id="7" name="Text-78"/>
          <p:cNvSpPr txBox="1"/>
          <p:nvPr/>
        </p:nvSpPr>
        <p:spPr>
          <a:xfrm>
            <a:off x="821267" y="2616200"/>
            <a:ext cx="5274733" cy="770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US$8–12 per active farmer per year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Paid by NGOs, donor programmes and cooperatives — farmers use it free.</a:t>
            </a:r>
            <a:endParaRPr lang="en-US" sz="1400" dirty="0"/>
          </a:p>
        </p:txBody>
      </p:sp>
      <p:sp>
        <p:nvSpPr>
          <p:cNvPr id="8" name="Text-79"/>
          <p:cNvSpPr txBox="1"/>
          <p:nvPr/>
        </p:nvSpPr>
        <p:spPr>
          <a:xfrm>
            <a:off x="550333" y="3945467"/>
            <a:ext cx="2836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chemeClr val="accent3"/>
                </a:solidFill>
              </a:rPr>
              <a:t>LATER STREAMS</a:t>
            </a:r>
            <a:endParaRPr lang="en-US" sz="1300" dirty="0"/>
          </a:p>
        </p:txBody>
      </p:sp>
      <p:sp>
        <p:nvSpPr>
          <p:cNvPr id="9" name="Text-80"/>
          <p:cNvSpPr txBox="1"/>
          <p:nvPr/>
        </p:nvSpPr>
        <p:spPr>
          <a:xfrm>
            <a:off x="609600" y="4275667"/>
            <a:ext cx="5706533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Buyer intelligence: US$300–600 a month per processor</a:t>
            </a:r>
            <a:endParaRPr lang="en-US" sz="1700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Institutional licence: US$10k–25k a year</a:t>
            </a:r>
            <a:endParaRPr lang="en-US" sz="1700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Sponsored access; risk data for insurers &amp; lenders</a:t>
            </a:r>
            <a:endParaRPr lang="en-US" sz="1700" dirty="0"/>
          </a:p>
        </p:txBody>
      </p:sp>
      <p:sp>
        <p:nvSpPr>
          <p:cNvPr id="10" name="Unit economics panel-81"/>
          <p:cNvSpPr/>
          <p:nvPr/>
        </p:nvSpPr>
        <p:spPr>
          <a:xfrm>
            <a:off x="6671733" y="1549400"/>
            <a:ext cx="4969933" cy="43942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1" name="Text-82"/>
          <p:cNvSpPr txBox="1"/>
          <p:nvPr/>
        </p:nvSpPr>
        <p:spPr>
          <a:xfrm>
            <a:off x="6993467" y="1752600"/>
            <a:ext cx="4013200" cy="220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5F6FB"/>
                </a:solidFill>
              </a:rPr>
              <a:t>ONE CLUSTER, ONE YEAR</a:t>
            </a:r>
            <a:endParaRPr lang="en-US" sz="1100" dirty="0"/>
          </a:p>
        </p:txBody>
      </p:sp>
      <p:sp>
        <p:nvSpPr>
          <p:cNvPr id="12" name="Text-83"/>
          <p:cNvSpPr txBox="1"/>
          <p:nvPr/>
        </p:nvSpPr>
        <p:spPr>
          <a:xfrm>
            <a:off x="6993467" y="2286000"/>
            <a:ext cx="299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bg1"/>
                </a:solidFill>
              </a:rPr>
              <a:t>500 farmers × US$10</a:t>
            </a:r>
            <a:endParaRPr lang="en-US" sz="1400" dirty="0"/>
          </a:p>
        </p:txBody>
      </p:sp>
      <p:sp>
        <p:nvSpPr>
          <p:cNvPr id="13" name="Text-84"/>
          <p:cNvSpPr txBox="1"/>
          <p:nvPr/>
        </p:nvSpPr>
        <p:spPr>
          <a:xfrm>
            <a:off x="9990667" y="2286000"/>
            <a:ext cx="13377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bg1"/>
                </a:solidFill>
              </a:rPr>
              <a:t>US$5,000</a:t>
            </a:r>
            <a:endParaRPr lang="en-US" sz="1400" dirty="0"/>
          </a:p>
        </p:txBody>
      </p:sp>
      <p:sp>
        <p:nvSpPr>
          <p:cNvPr id="14" name="Text-85"/>
          <p:cNvSpPr txBox="1"/>
          <p:nvPr/>
        </p:nvSpPr>
        <p:spPr>
          <a:xfrm>
            <a:off x="6993467" y="2726267"/>
            <a:ext cx="299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bg1"/>
                </a:solidFill>
              </a:rPr>
              <a:t>1 processor × US$400 × 12</a:t>
            </a:r>
            <a:endParaRPr lang="en-US" sz="1400" dirty="0"/>
          </a:p>
        </p:txBody>
      </p:sp>
      <p:sp>
        <p:nvSpPr>
          <p:cNvPr id="15" name="Text-86"/>
          <p:cNvSpPr txBox="1"/>
          <p:nvPr/>
        </p:nvSpPr>
        <p:spPr>
          <a:xfrm>
            <a:off x="9990667" y="2726267"/>
            <a:ext cx="13377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bg1"/>
                </a:solidFill>
              </a:rPr>
              <a:t>US$4,800</a:t>
            </a:r>
            <a:endParaRPr lang="en-US" sz="1400" dirty="0"/>
          </a:p>
        </p:txBody>
      </p:sp>
      <p:sp>
        <p:nvSpPr>
          <p:cNvPr id="16" name="Text-87"/>
          <p:cNvSpPr txBox="1"/>
          <p:nvPr/>
        </p:nvSpPr>
        <p:spPr>
          <a:xfrm>
            <a:off x="6993467" y="3166533"/>
            <a:ext cx="299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bg1"/>
                </a:solidFill>
              </a:rPr>
              <a:t>Comms, data, hosting</a:t>
            </a:r>
            <a:endParaRPr lang="en-US" sz="1400" dirty="0"/>
          </a:p>
        </p:txBody>
      </p:sp>
      <p:sp>
        <p:nvSpPr>
          <p:cNvPr id="17" name="Text-88"/>
          <p:cNvSpPr txBox="1"/>
          <p:nvPr/>
        </p:nvSpPr>
        <p:spPr>
          <a:xfrm>
            <a:off x="9990667" y="3166533"/>
            <a:ext cx="13377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bg1"/>
                </a:solidFill>
              </a:rPr>
              <a:t>– US$1,750</a:t>
            </a:r>
            <a:endParaRPr lang="en-US" sz="1400" dirty="0"/>
          </a:p>
        </p:txBody>
      </p:sp>
      <p:sp>
        <p:nvSpPr>
          <p:cNvPr id="18" name="Text-89"/>
          <p:cNvSpPr txBox="1"/>
          <p:nvPr/>
        </p:nvSpPr>
        <p:spPr>
          <a:xfrm>
            <a:off x="6993467" y="3606800"/>
            <a:ext cx="299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bg1"/>
                </a:solidFill>
              </a:rPr>
              <a:t>Support &amp; field servicing</a:t>
            </a:r>
            <a:endParaRPr lang="en-US" sz="1400" dirty="0"/>
          </a:p>
        </p:txBody>
      </p:sp>
      <p:sp>
        <p:nvSpPr>
          <p:cNvPr id="19" name="Text-90"/>
          <p:cNvSpPr txBox="1"/>
          <p:nvPr/>
        </p:nvSpPr>
        <p:spPr>
          <a:xfrm>
            <a:off x="9990667" y="3606800"/>
            <a:ext cx="13377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chemeClr val="bg1"/>
                </a:solidFill>
              </a:rPr>
              <a:t>– US$2,000</a:t>
            </a:r>
            <a:endParaRPr lang="en-US" sz="1400" dirty="0"/>
          </a:p>
        </p:txBody>
      </p:sp>
      <p:sp>
        <p:nvSpPr>
          <p:cNvPr id="20" name="Total rule"/>
          <p:cNvSpPr/>
          <p:nvPr/>
        </p:nvSpPr>
        <p:spPr>
          <a:xfrm>
            <a:off x="6993467" y="4055533"/>
            <a:ext cx="4334933" cy="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</a:ln>
        </p:spPr>
      </p:sp>
      <p:sp>
        <p:nvSpPr>
          <p:cNvPr id="21" name="Text-91"/>
          <p:cNvSpPr txBox="1"/>
          <p:nvPr/>
        </p:nvSpPr>
        <p:spPr>
          <a:xfrm>
            <a:off x="6993467" y="4182533"/>
            <a:ext cx="4013200" cy="880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5200" b="1" dirty="0">
                <a:solidFill>
                  <a:schemeClr val="accent2"/>
                </a:solidFill>
              </a:rPr>
              <a:t>≈62%</a:t>
            </a:r>
            <a:endParaRPr lang="en-US" sz="5200" dirty="0"/>
          </a:p>
        </p:txBody>
      </p:sp>
      <p:sp>
        <p:nvSpPr>
          <p:cNvPr id="22" name="Text-92"/>
          <p:cNvSpPr txBox="1"/>
          <p:nvPr/>
        </p:nvSpPr>
        <p:spPr>
          <a:xfrm>
            <a:off x="6993467" y="5080000"/>
            <a:ext cx="4013200" cy="440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D7E0E8"/>
                </a:solidFill>
              </a:rPr>
              <a:t>contribution margin — US$6,050 on US$9,800 revenue, before central costs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6667" y="6587067"/>
            <a:ext cx="643467" cy="220133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50333" y="423333"/>
            <a:ext cx="762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COMPETITION &amp; MOAT</a:t>
            </a:r>
            <a:endParaRPr lang="en-US" sz="20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50333" y="804333"/>
            <a:ext cx="11099800" cy="440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The real competitor is the status quo</a:t>
            </a:r>
            <a:endParaRPr lang="en-US" sz="2600" dirty="0"/>
          </a:p>
        </p:txBody>
      </p:sp>
      <p:graphicFrame>
        <p:nvGraphicFramePr>
          <p:cNvPr id="9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0333" y="1557867"/>
          <a:ext cx="11057467" cy="914400"/>
        </p:xfrm>
        <a:graphic>
          <a:graphicData uri="http://schemas.openxmlformats.org/drawingml/2006/table">
            <a:tbl>
              <a:tblPr/>
              <a:tblGrid>
                <a:gridCol w="3615267"/>
                <a:gridCol w="1896533"/>
                <a:gridCol w="1888067"/>
                <a:gridCol w="1888067"/>
                <a:gridCol w="1769533"/>
              </a:tblGrid>
              <a:tr h="4690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Today a farmer relies on…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Farm-specific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Timely (24–72 h)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Clear action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Builds a record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A"/>
                    </a:solidFill>
                  </a:tcPr>
                </a:tc>
              </a:tr>
              <a:tr h="4690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Memory &amp; word of mouth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878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Partly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73D2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No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878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Partly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73D2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No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90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Regional weather alerts (radio, TMA)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73D2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No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Yes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73D2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No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73D2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No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690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Extension officer visits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Yes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878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Partly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Yes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878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Partly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90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MwaniMlinzi AI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Yes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Yes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Yes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Yes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9"/>
                    </a:solidFill>
                  </a:tcPr>
                </a:tc>
              </a:tr>
            </a:tbl>
          </a:graphicData>
        </a:graphic>
      </p:graphicFrame>
      <p:sp>
        <p:nvSpPr>
          <p:cNvPr id="5" name="Moat-93"/>
          <p:cNvSpPr/>
          <p:nvPr/>
        </p:nvSpPr>
        <p:spPr>
          <a:xfrm>
            <a:off x="541867" y="4334933"/>
            <a:ext cx="11108267" cy="1617133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Text-94"/>
          <p:cNvSpPr txBox="1"/>
          <p:nvPr/>
        </p:nvSpPr>
        <p:spPr>
          <a:xfrm>
            <a:off x="914400" y="4504267"/>
            <a:ext cx="33189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chemeClr val="bg1"/>
                </a:solidFill>
              </a:rPr>
              <a:t>THE MOAT</a:t>
            </a:r>
            <a:endParaRPr lang="en-US" sz="1350" dirty="0"/>
          </a:p>
        </p:txBody>
      </p:sp>
      <p:sp>
        <p:nvSpPr>
          <p:cNvPr id="7" name="Text-95"/>
          <p:cNvSpPr txBox="1"/>
          <p:nvPr/>
        </p:nvSpPr>
        <p:spPr>
          <a:xfrm>
            <a:off x="914400" y="4826000"/>
            <a:ext cx="10430933" cy="931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bg1"/>
                </a:solidFill>
              </a:rPr>
              <a:t>A consented, longitudinal dataset linking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chemeClr val="bg1"/>
                </a:solidFill>
              </a:rPr>
              <a:t>micro-location + ocean conditions + crop stage + action recommended + action taken + outcome.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bg1"/>
                </a:solidFill>
              </a:rPr>
              <a:t> Satellite data is open to everyone; this dataset is created only through use — and needs no IoT, drones or hardware to start.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6667" y="6587067"/>
            <a:ext cx="643467" cy="220133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1862667" y="338667"/>
            <a:ext cx="846666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Meet Our Team</a:t>
            </a:r>
            <a:endParaRPr lang="en-US" sz="6300" dirty="0"/>
          </a:p>
        </p:txBody>
      </p:sp>
      <p:sp>
        <p:nvSpPr>
          <p:cNvPr id="3" name="Card-96"/>
          <p:cNvSpPr/>
          <p:nvPr/>
        </p:nvSpPr>
        <p:spPr>
          <a:xfrm>
            <a:off x="541867" y="1684867"/>
            <a:ext cx="1701800" cy="3666067"/>
          </a:xfrm>
          <a:prstGeom prst="rect">
            <a:avLst/>
          </a:prstGeom>
          <a:solidFill>
            <a:srgbClr val="F5F5F5"/>
          </a:solidFill>
          <a:ln w="9525">
            <a:solidFill>
              <a:srgbClr val="E2E2E2"/>
            </a:solidFill>
            <a:prstDash val="solid"/>
          </a:ln>
        </p:spPr>
      </p:sp>
      <p:pic>
        <p:nvPicPr>
          <p:cNvPr id="4" name="Photo Salha Shamim Khamis" descr="Photo of Salha Shamim Khami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1867" y="1684867"/>
            <a:ext cx="1701800" cy="2116667"/>
          </a:xfrm>
          <a:prstGeom prst="rect">
            <a:avLst/>
          </a:prstGeom>
        </p:spPr>
      </p:pic>
      <p:sp>
        <p:nvSpPr>
          <p:cNvPr id="5" name="Text-97"/>
          <p:cNvSpPr txBox="1"/>
          <p:nvPr/>
        </p:nvSpPr>
        <p:spPr>
          <a:xfrm>
            <a:off x="609600" y="3852333"/>
            <a:ext cx="1566333" cy="567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Salha Shamim Khamis</a:t>
            </a:r>
            <a:endParaRPr lang="en-US" sz="1300" dirty="0"/>
          </a:p>
        </p:txBody>
      </p:sp>
      <p:sp>
        <p:nvSpPr>
          <p:cNvPr id="6" name="Divider-98"/>
          <p:cNvSpPr/>
          <p:nvPr/>
        </p:nvSpPr>
        <p:spPr>
          <a:xfrm>
            <a:off x="1049867" y="4478867"/>
            <a:ext cx="694267" cy="42333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7" name="Text-99"/>
          <p:cNvSpPr txBox="1"/>
          <p:nvPr/>
        </p:nvSpPr>
        <p:spPr>
          <a:xfrm>
            <a:off x="609600" y="4614333"/>
            <a:ext cx="1566333" cy="465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chemeClr val="accent2"/>
                </a:solidFill>
              </a:rPr>
              <a:t>Founder/CEO</a:t>
            </a:r>
            <a:endParaRPr lang="en-US" sz="1200" dirty="0"/>
          </a:p>
        </p:txBody>
      </p:sp>
      <p:sp>
        <p:nvSpPr>
          <p:cNvPr id="8" name="Card-100"/>
          <p:cNvSpPr/>
          <p:nvPr/>
        </p:nvSpPr>
        <p:spPr>
          <a:xfrm>
            <a:off x="2421467" y="1684867"/>
            <a:ext cx="1701800" cy="3666067"/>
          </a:xfrm>
          <a:prstGeom prst="rect">
            <a:avLst/>
          </a:prstGeom>
          <a:solidFill>
            <a:srgbClr val="F5F5F5"/>
          </a:solidFill>
          <a:ln w="9525">
            <a:solidFill>
              <a:srgbClr val="E2E2E2"/>
            </a:solidFill>
            <a:prstDash val="solid"/>
          </a:ln>
        </p:spPr>
      </p:sp>
      <p:pic>
        <p:nvPicPr>
          <p:cNvPr id="9" name="Photo Samira Hilal Mohammed" descr="Photo of Samira Hilal Mohammed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421467" y="1684867"/>
            <a:ext cx="1701800" cy="2116667"/>
          </a:xfrm>
          <a:prstGeom prst="rect">
            <a:avLst/>
          </a:prstGeom>
        </p:spPr>
      </p:pic>
      <p:sp>
        <p:nvSpPr>
          <p:cNvPr id="10" name="Text-101"/>
          <p:cNvSpPr txBox="1"/>
          <p:nvPr/>
        </p:nvSpPr>
        <p:spPr>
          <a:xfrm>
            <a:off x="2489200" y="3852333"/>
            <a:ext cx="1566333" cy="567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Samira Hilal Mohammed</a:t>
            </a:r>
            <a:endParaRPr lang="en-US" sz="1300" dirty="0"/>
          </a:p>
        </p:txBody>
      </p:sp>
      <p:sp>
        <p:nvSpPr>
          <p:cNvPr id="11" name="Divider-102"/>
          <p:cNvSpPr/>
          <p:nvPr/>
        </p:nvSpPr>
        <p:spPr>
          <a:xfrm>
            <a:off x="2929467" y="4478867"/>
            <a:ext cx="694267" cy="42333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2" name="Text-103"/>
          <p:cNvSpPr txBox="1"/>
          <p:nvPr/>
        </p:nvSpPr>
        <p:spPr>
          <a:xfrm>
            <a:off x="2489200" y="4614333"/>
            <a:ext cx="1566333" cy="465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chemeClr val="accent2"/>
                </a:solidFill>
              </a:rPr>
              <a:t>Research lead</a:t>
            </a:r>
            <a:endParaRPr lang="en-US" sz="1200" dirty="0"/>
          </a:p>
        </p:txBody>
      </p:sp>
      <p:sp>
        <p:nvSpPr>
          <p:cNvPr id="13" name="Card-104"/>
          <p:cNvSpPr/>
          <p:nvPr/>
        </p:nvSpPr>
        <p:spPr>
          <a:xfrm>
            <a:off x="4301067" y="1684867"/>
            <a:ext cx="1701800" cy="3666067"/>
          </a:xfrm>
          <a:prstGeom prst="rect">
            <a:avLst/>
          </a:prstGeom>
          <a:solidFill>
            <a:srgbClr val="F5F5F5"/>
          </a:solidFill>
          <a:ln w="9525">
            <a:solidFill>
              <a:srgbClr val="E2E2E2"/>
            </a:solidFill>
            <a:prstDash val="solid"/>
          </a:ln>
        </p:spPr>
      </p:sp>
      <p:pic>
        <p:nvPicPr>
          <p:cNvPr id="14" name="Photo Shemsa Nassor Amin" descr="Photo of Shemsa Nassor Amin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01067" y="1684867"/>
            <a:ext cx="1701800" cy="2116667"/>
          </a:xfrm>
          <a:prstGeom prst="rect">
            <a:avLst/>
          </a:prstGeom>
        </p:spPr>
      </p:pic>
      <p:sp>
        <p:nvSpPr>
          <p:cNvPr id="15" name="Text-105"/>
          <p:cNvSpPr txBox="1"/>
          <p:nvPr/>
        </p:nvSpPr>
        <p:spPr>
          <a:xfrm>
            <a:off x="4368800" y="3852333"/>
            <a:ext cx="1566333" cy="567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Shemsa Nassor Amin</a:t>
            </a:r>
            <a:endParaRPr lang="en-US" sz="1300" dirty="0"/>
          </a:p>
        </p:txBody>
      </p:sp>
      <p:sp>
        <p:nvSpPr>
          <p:cNvPr id="16" name="Divider-106"/>
          <p:cNvSpPr/>
          <p:nvPr/>
        </p:nvSpPr>
        <p:spPr>
          <a:xfrm>
            <a:off x="4809067" y="4478867"/>
            <a:ext cx="694267" cy="42333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7" name="Text-107"/>
          <p:cNvSpPr txBox="1"/>
          <p:nvPr/>
        </p:nvSpPr>
        <p:spPr>
          <a:xfrm>
            <a:off x="4368800" y="4614333"/>
            <a:ext cx="1566333" cy="465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chemeClr val="accent2"/>
                </a:solidFill>
              </a:rPr>
              <a:t>CTO</a:t>
            </a:r>
            <a:endParaRPr lang="en-US" sz="1200" dirty="0"/>
          </a:p>
        </p:txBody>
      </p:sp>
      <p:sp>
        <p:nvSpPr>
          <p:cNvPr id="18" name="Card-108"/>
          <p:cNvSpPr/>
          <p:nvPr/>
        </p:nvSpPr>
        <p:spPr>
          <a:xfrm>
            <a:off x="6248400" y="1684867"/>
            <a:ext cx="1701800" cy="3666067"/>
          </a:xfrm>
          <a:prstGeom prst="rect">
            <a:avLst/>
          </a:prstGeom>
          <a:solidFill>
            <a:srgbClr val="F5F5F5"/>
          </a:solidFill>
          <a:ln w="9525">
            <a:solidFill>
              <a:srgbClr val="E2E2E2"/>
            </a:solidFill>
            <a:prstDash val="solid"/>
          </a:ln>
        </p:spPr>
      </p:sp>
      <p:pic>
        <p:nvPicPr>
          <p:cNvPr id="19" name="Photo Mohammed Hashim Sharif" descr="Photo of Mohammed Hashim Sharif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248400" y="1684867"/>
            <a:ext cx="1701800" cy="2116667"/>
          </a:xfrm>
          <a:prstGeom prst="rect">
            <a:avLst/>
          </a:prstGeom>
        </p:spPr>
      </p:pic>
      <p:sp>
        <p:nvSpPr>
          <p:cNvPr id="20" name="Text-109"/>
          <p:cNvSpPr txBox="1"/>
          <p:nvPr/>
        </p:nvSpPr>
        <p:spPr>
          <a:xfrm>
            <a:off x="6316133" y="3852333"/>
            <a:ext cx="1566333" cy="567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Mohammed Hashim Sharif</a:t>
            </a:r>
            <a:endParaRPr lang="en-US" sz="1300" dirty="0"/>
          </a:p>
        </p:txBody>
      </p:sp>
      <p:sp>
        <p:nvSpPr>
          <p:cNvPr id="21" name="Divider-110"/>
          <p:cNvSpPr/>
          <p:nvPr/>
        </p:nvSpPr>
        <p:spPr>
          <a:xfrm>
            <a:off x="6756400" y="4478867"/>
            <a:ext cx="694267" cy="42333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2" name="Text-111"/>
          <p:cNvSpPr txBox="1"/>
          <p:nvPr/>
        </p:nvSpPr>
        <p:spPr>
          <a:xfrm>
            <a:off x="6316133" y="4614333"/>
            <a:ext cx="1566333" cy="465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chemeClr val="accent2"/>
                </a:solidFill>
              </a:rPr>
              <a:t>Growth lead</a:t>
            </a:r>
            <a:endParaRPr lang="en-US" sz="1200" dirty="0"/>
          </a:p>
        </p:txBody>
      </p:sp>
      <p:sp>
        <p:nvSpPr>
          <p:cNvPr id="23" name="Card-112"/>
          <p:cNvSpPr/>
          <p:nvPr/>
        </p:nvSpPr>
        <p:spPr>
          <a:xfrm>
            <a:off x="8068733" y="1684867"/>
            <a:ext cx="1701800" cy="3666067"/>
          </a:xfrm>
          <a:prstGeom prst="rect">
            <a:avLst/>
          </a:prstGeom>
          <a:solidFill>
            <a:srgbClr val="F5F5F5"/>
          </a:solidFill>
          <a:ln w="9525">
            <a:solidFill>
              <a:srgbClr val="E2E2E2"/>
            </a:solidFill>
            <a:prstDash val="solid"/>
          </a:ln>
        </p:spPr>
      </p:sp>
      <p:pic>
        <p:nvPicPr>
          <p:cNvPr id="24" name="Photo Abdillah Mshamata" descr="Photo of Abdillah Mshamata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068733" y="1684867"/>
            <a:ext cx="1701800" cy="2116667"/>
          </a:xfrm>
          <a:prstGeom prst="rect">
            <a:avLst/>
          </a:prstGeom>
        </p:spPr>
      </p:pic>
      <p:sp>
        <p:nvSpPr>
          <p:cNvPr id="25" name="Text-113"/>
          <p:cNvSpPr txBox="1"/>
          <p:nvPr/>
        </p:nvSpPr>
        <p:spPr>
          <a:xfrm>
            <a:off x="8136467" y="3852333"/>
            <a:ext cx="1566333" cy="567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Abdillah Mshamata</a:t>
            </a:r>
            <a:endParaRPr lang="en-US" sz="1300" dirty="0"/>
          </a:p>
        </p:txBody>
      </p:sp>
      <p:sp>
        <p:nvSpPr>
          <p:cNvPr id="26" name="Divider-114"/>
          <p:cNvSpPr/>
          <p:nvPr/>
        </p:nvSpPr>
        <p:spPr>
          <a:xfrm>
            <a:off x="8576733" y="4478867"/>
            <a:ext cx="694267" cy="42333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7" name="Text-115"/>
          <p:cNvSpPr txBox="1"/>
          <p:nvPr/>
        </p:nvSpPr>
        <p:spPr>
          <a:xfrm>
            <a:off x="8136467" y="4614333"/>
            <a:ext cx="1566333" cy="465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chemeClr val="accent2"/>
                </a:solidFill>
              </a:rPr>
              <a:t>Field operations lead</a:t>
            </a:r>
            <a:endParaRPr lang="en-US" sz="1200" dirty="0"/>
          </a:p>
        </p:txBody>
      </p:sp>
      <p:sp>
        <p:nvSpPr>
          <p:cNvPr id="28" name="Card-116"/>
          <p:cNvSpPr/>
          <p:nvPr/>
        </p:nvSpPr>
        <p:spPr>
          <a:xfrm>
            <a:off x="9948333" y="1684867"/>
            <a:ext cx="1701800" cy="3666067"/>
          </a:xfrm>
          <a:prstGeom prst="rect">
            <a:avLst/>
          </a:prstGeom>
          <a:solidFill>
            <a:srgbClr val="F5F5F5"/>
          </a:solidFill>
          <a:ln w="9525">
            <a:solidFill>
              <a:srgbClr val="E2E2E2"/>
            </a:solidFill>
            <a:prstDash val="solid"/>
          </a:ln>
        </p:spPr>
      </p:sp>
      <p:pic>
        <p:nvPicPr>
          <p:cNvPr id="29" name="Photo Ishaka Dhamir" descr="Photo of Ishaka Dhami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948333" y="1684867"/>
            <a:ext cx="1701800" cy="2116667"/>
          </a:xfrm>
          <a:prstGeom prst="rect">
            <a:avLst/>
          </a:prstGeom>
        </p:spPr>
      </p:pic>
      <p:sp>
        <p:nvSpPr>
          <p:cNvPr id="30" name="Text-117"/>
          <p:cNvSpPr txBox="1"/>
          <p:nvPr/>
        </p:nvSpPr>
        <p:spPr>
          <a:xfrm>
            <a:off x="10016067" y="3852333"/>
            <a:ext cx="1566333" cy="567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Ishaka Dhamir</a:t>
            </a:r>
            <a:endParaRPr lang="en-US" sz="1300" dirty="0"/>
          </a:p>
        </p:txBody>
      </p:sp>
      <p:sp>
        <p:nvSpPr>
          <p:cNvPr id="31" name="Divider-118"/>
          <p:cNvSpPr/>
          <p:nvPr/>
        </p:nvSpPr>
        <p:spPr>
          <a:xfrm>
            <a:off x="10456333" y="4478867"/>
            <a:ext cx="694267" cy="42333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2" name="Text-119"/>
          <p:cNvSpPr txBox="1"/>
          <p:nvPr/>
        </p:nvSpPr>
        <p:spPr>
          <a:xfrm>
            <a:off x="10016067" y="4614333"/>
            <a:ext cx="1566333" cy="465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chemeClr val="accent2"/>
                </a:solidFill>
              </a:rPr>
              <a:t>Data engineer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6667" y="6587067"/>
            <a:ext cx="643467" cy="220133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50333" y="423333"/>
            <a:ext cx="762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TRACTION &amp; MILESTONES</a:t>
            </a:r>
            <a:endParaRPr lang="en-US" sz="20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50333" y="804333"/>
            <a:ext cx="11099800" cy="440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What exists today, and what we prove next</a:t>
            </a:r>
            <a:endParaRPr lang="en-US" sz="2600" dirty="0"/>
          </a:p>
        </p:txBody>
      </p:sp>
      <p:sp>
        <p:nvSpPr>
          <p:cNvPr id="4" name="Card-120"/>
          <p:cNvSpPr/>
          <p:nvPr/>
        </p:nvSpPr>
        <p:spPr>
          <a:xfrm>
            <a:off x="541867" y="1549400"/>
            <a:ext cx="5401733" cy="2523067"/>
          </a:xfrm>
          <a:prstGeom prst="rect">
            <a:avLst/>
          </a:prstGeom>
          <a:solidFill>
            <a:srgbClr val="F5F5F5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5" name="Text-121"/>
          <p:cNvSpPr txBox="1"/>
          <p:nvPr/>
        </p:nvSpPr>
        <p:spPr>
          <a:xfrm>
            <a:off x="821267" y="1727200"/>
            <a:ext cx="2565400" cy="220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chemeClr val="accent4"/>
                </a:solidFill>
              </a:rPr>
              <a:t>BUILT TODAY</a:t>
            </a:r>
            <a:endParaRPr lang="en-US" sz="1100" dirty="0"/>
          </a:p>
        </p:txBody>
      </p:sp>
      <p:sp>
        <p:nvSpPr>
          <p:cNvPr id="6" name="Text-122"/>
          <p:cNvSpPr txBox="1"/>
          <p:nvPr/>
        </p:nvSpPr>
        <p:spPr>
          <a:xfrm>
            <a:off x="846667" y="2065867"/>
            <a:ext cx="4995333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Interactive prototype: USSD menu, risk check, approved advice, SMS alert, co-op dashboard</a:t>
            </a:r>
            <a:endParaRPr lang="en-US" sz="1300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Runs on simulated ocean data and a basic risk model — not yet live with farmers</a:t>
            </a:r>
            <a:endParaRPr lang="en-US" sz="1300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Research report and implementation plan for the production stack</a:t>
            </a:r>
            <a:endParaRPr lang="en-US" sz="1300" dirty="0"/>
          </a:p>
        </p:txBody>
      </p:sp>
      <p:sp>
        <p:nvSpPr>
          <p:cNvPr id="7" name="Stage-123"/>
          <p:cNvSpPr/>
          <p:nvPr/>
        </p:nvSpPr>
        <p:spPr>
          <a:xfrm>
            <a:off x="6307667" y="1549400"/>
            <a:ext cx="1651000" cy="719667"/>
          </a:xfrm>
          <a:prstGeom prst="roundRect">
            <a:avLst>
              <a:gd name="adj" fmla="val 10165"/>
            </a:avLst>
          </a:prstGeom>
          <a:solidFill>
            <a:schemeClr val="tx2"/>
          </a:solidFill>
          <a:ln/>
        </p:spPr>
      </p:sp>
      <p:sp>
        <p:nvSpPr>
          <p:cNvPr id="8" name="Text-124"/>
          <p:cNvSpPr txBox="1"/>
          <p:nvPr/>
        </p:nvSpPr>
        <p:spPr>
          <a:xfrm>
            <a:off x="6307667" y="1549400"/>
            <a:ext cx="1651000" cy="719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chemeClr val="bg1"/>
                </a:solidFill>
              </a:rPr>
              <a:t>NEXT</a:t>
            </a:r>
            <a:endParaRPr lang="en-US" sz="1200" dirty="0"/>
          </a:p>
        </p:txBody>
      </p:sp>
      <p:sp>
        <p:nvSpPr>
          <p:cNvPr id="9" name="Text-125"/>
          <p:cNvSpPr txBox="1"/>
          <p:nvPr/>
        </p:nvSpPr>
        <p:spPr>
          <a:xfrm>
            <a:off x="8187267" y="1549400"/>
            <a:ext cx="3539067" cy="719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One live risk flow with 20–50 farmers in one cooperative, 1–2 risk types</a:t>
            </a:r>
            <a:endParaRPr lang="en-US" sz="1300" dirty="0"/>
          </a:p>
        </p:txBody>
      </p:sp>
      <p:sp>
        <p:nvSpPr>
          <p:cNvPr id="10" name="Stage-126"/>
          <p:cNvSpPr/>
          <p:nvPr/>
        </p:nvSpPr>
        <p:spPr>
          <a:xfrm>
            <a:off x="6307667" y="2438400"/>
            <a:ext cx="1651000" cy="719667"/>
          </a:xfrm>
          <a:prstGeom prst="roundRect">
            <a:avLst>
              <a:gd name="adj" fmla="val 10165"/>
            </a:avLst>
          </a:prstGeom>
          <a:solidFill>
            <a:schemeClr val="tx2"/>
          </a:solidFill>
          <a:ln/>
        </p:spPr>
      </p:sp>
      <p:sp>
        <p:nvSpPr>
          <p:cNvPr id="11" name="Text-127"/>
          <p:cNvSpPr txBox="1"/>
          <p:nvPr/>
        </p:nvSpPr>
        <p:spPr>
          <a:xfrm>
            <a:off x="6307667" y="2438400"/>
            <a:ext cx="1651000" cy="719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chemeClr val="bg1"/>
                </a:solidFill>
              </a:rPr>
              <a:t>SEASON ONE</a:t>
            </a:r>
            <a:endParaRPr lang="en-US" sz="1200" dirty="0"/>
          </a:p>
        </p:txBody>
      </p:sp>
      <p:sp>
        <p:nvSpPr>
          <p:cNvPr id="12" name="Text-128"/>
          <p:cNvSpPr txBox="1"/>
          <p:nvPr/>
        </p:nvSpPr>
        <p:spPr>
          <a:xfrm>
            <a:off x="8187267" y="2438400"/>
            <a:ext cx="3539067" cy="719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Measure results against the pre-registered pilot targets below</a:t>
            </a:r>
            <a:endParaRPr lang="en-US" sz="1300" dirty="0"/>
          </a:p>
        </p:txBody>
      </p:sp>
      <p:sp>
        <p:nvSpPr>
          <p:cNvPr id="13" name="Stage-129"/>
          <p:cNvSpPr/>
          <p:nvPr/>
        </p:nvSpPr>
        <p:spPr>
          <a:xfrm>
            <a:off x="6307667" y="3327400"/>
            <a:ext cx="1651000" cy="719667"/>
          </a:xfrm>
          <a:prstGeom prst="roundRect">
            <a:avLst>
              <a:gd name="adj" fmla="val 10165"/>
            </a:avLst>
          </a:prstGeom>
          <a:solidFill>
            <a:schemeClr val="tx2"/>
          </a:solidFill>
          <a:ln/>
        </p:spPr>
      </p:sp>
      <p:sp>
        <p:nvSpPr>
          <p:cNvPr id="14" name="Text-130"/>
          <p:cNvSpPr txBox="1"/>
          <p:nvPr/>
        </p:nvSpPr>
        <p:spPr>
          <a:xfrm>
            <a:off x="6307667" y="3327400"/>
            <a:ext cx="1651000" cy="719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chemeClr val="bg1"/>
                </a:solidFill>
              </a:rPr>
              <a:t>THEN</a:t>
            </a:r>
            <a:endParaRPr lang="en-US" sz="1200" dirty="0"/>
          </a:p>
        </p:txBody>
      </p:sp>
      <p:sp>
        <p:nvSpPr>
          <p:cNvPr id="15" name="Text-131"/>
          <p:cNvSpPr txBox="1"/>
          <p:nvPr/>
        </p:nvSpPr>
        <p:spPr>
          <a:xfrm>
            <a:off x="8187267" y="3327400"/>
            <a:ext cx="3539067" cy="719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Scale to 1–2 cooperative clusters in N. Unguja or Pemba — once farmers trust it</a:t>
            </a:r>
            <a:endParaRPr lang="en-US" sz="1300" dirty="0"/>
          </a:p>
        </p:txBody>
      </p:sp>
      <p:sp>
        <p:nvSpPr>
          <p:cNvPr id="16" name="Text-132"/>
          <p:cNvSpPr txBox="1"/>
          <p:nvPr/>
        </p:nvSpPr>
        <p:spPr>
          <a:xfrm>
            <a:off x="550333" y="4309533"/>
            <a:ext cx="79163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chemeClr val="accent2"/>
                </a:solidFill>
              </a:rPr>
              <a:t>SEASON-ONE PILOT TARGETS — PRE-REGISTERED, NOT PROMISED</a:t>
            </a:r>
            <a:endParaRPr lang="en-US" sz="1100" dirty="0"/>
          </a:p>
        </p:txBody>
      </p:sp>
      <p:sp>
        <p:nvSpPr>
          <p:cNvPr id="17" name="Card-133"/>
          <p:cNvSpPr/>
          <p:nvPr/>
        </p:nvSpPr>
        <p:spPr>
          <a:xfrm>
            <a:off x="541867" y="4707467"/>
            <a:ext cx="2616200" cy="1286933"/>
          </a:xfrm>
          <a:prstGeom prst="rect">
            <a:avLst/>
          </a:prstGeom>
          <a:solidFill>
            <a:srgbClr val="F5F5F5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8" name="Text-134"/>
          <p:cNvSpPr txBox="1"/>
          <p:nvPr/>
        </p:nvSpPr>
        <p:spPr>
          <a:xfrm>
            <a:off x="778933" y="4826000"/>
            <a:ext cx="2218267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chemeClr val="accent2"/>
                </a:solidFill>
              </a:rPr>
              <a:t>≥70%</a:t>
            </a:r>
            <a:endParaRPr lang="en-US" sz="2800" dirty="0"/>
          </a:p>
        </p:txBody>
      </p:sp>
      <p:sp>
        <p:nvSpPr>
          <p:cNvPr id="19" name="Text-135"/>
          <p:cNvSpPr txBox="1"/>
          <p:nvPr/>
        </p:nvSpPr>
        <p:spPr>
          <a:xfrm>
            <a:off x="778933" y="5367867"/>
            <a:ext cx="2218267" cy="474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farmers with usable production records</a:t>
            </a:r>
            <a:endParaRPr lang="en-US" sz="1200" dirty="0"/>
          </a:p>
        </p:txBody>
      </p:sp>
      <p:sp>
        <p:nvSpPr>
          <p:cNvPr id="20" name="Card-136"/>
          <p:cNvSpPr/>
          <p:nvPr/>
        </p:nvSpPr>
        <p:spPr>
          <a:xfrm>
            <a:off x="3369733" y="4707467"/>
            <a:ext cx="2616200" cy="1286933"/>
          </a:xfrm>
          <a:prstGeom prst="rect">
            <a:avLst/>
          </a:prstGeom>
          <a:solidFill>
            <a:srgbClr val="F5F5F5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1" name="Text-137"/>
          <p:cNvSpPr txBox="1"/>
          <p:nvPr/>
        </p:nvSpPr>
        <p:spPr>
          <a:xfrm>
            <a:off x="3606800" y="4826000"/>
            <a:ext cx="2218267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chemeClr val="accent2"/>
                </a:solidFill>
              </a:rPr>
              <a:t>≥75%</a:t>
            </a:r>
            <a:endParaRPr lang="en-US" sz="2800" dirty="0"/>
          </a:p>
        </p:txBody>
      </p:sp>
      <p:sp>
        <p:nvSpPr>
          <p:cNvPr id="22" name="Text-138"/>
          <p:cNvSpPr txBox="1"/>
          <p:nvPr/>
        </p:nvSpPr>
        <p:spPr>
          <a:xfrm>
            <a:off x="3606800" y="5367867"/>
            <a:ext cx="2218267" cy="474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high-priority alerts acknowledged</a:t>
            </a:r>
            <a:endParaRPr lang="en-US" sz="1200" dirty="0"/>
          </a:p>
        </p:txBody>
      </p:sp>
      <p:sp>
        <p:nvSpPr>
          <p:cNvPr id="23" name="Card-139"/>
          <p:cNvSpPr/>
          <p:nvPr/>
        </p:nvSpPr>
        <p:spPr>
          <a:xfrm>
            <a:off x="6206067" y="4707467"/>
            <a:ext cx="2616200" cy="1286933"/>
          </a:xfrm>
          <a:prstGeom prst="rect">
            <a:avLst/>
          </a:prstGeom>
          <a:solidFill>
            <a:srgbClr val="F5F5F5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4" name="Text-140"/>
          <p:cNvSpPr txBox="1"/>
          <p:nvPr/>
        </p:nvSpPr>
        <p:spPr>
          <a:xfrm>
            <a:off x="6443133" y="4826000"/>
            <a:ext cx="2218267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chemeClr val="accent2"/>
                </a:solidFill>
              </a:rPr>
              <a:t>≥60%</a:t>
            </a:r>
            <a:endParaRPr lang="en-US" sz="2800" dirty="0"/>
          </a:p>
        </p:txBody>
      </p:sp>
      <p:sp>
        <p:nvSpPr>
          <p:cNvPr id="25" name="Text-141"/>
          <p:cNvSpPr txBox="1"/>
          <p:nvPr/>
        </p:nvSpPr>
        <p:spPr>
          <a:xfrm>
            <a:off x="6443133" y="5367867"/>
            <a:ext cx="2218267" cy="474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alerts acted on within 48 hours</a:t>
            </a:r>
            <a:endParaRPr lang="en-US" sz="1200" dirty="0"/>
          </a:p>
        </p:txBody>
      </p:sp>
      <p:sp>
        <p:nvSpPr>
          <p:cNvPr id="26" name="Card-142"/>
          <p:cNvSpPr/>
          <p:nvPr/>
        </p:nvSpPr>
        <p:spPr>
          <a:xfrm>
            <a:off x="9033933" y="4707467"/>
            <a:ext cx="2616200" cy="1286933"/>
          </a:xfrm>
          <a:prstGeom prst="rect">
            <a:avLst/>
          </a:prstGeom>
          <a:solidFill>
            <a:srgbClr val="F5F5F5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7" name="Text-143"/>
          <p:cNvSpPr txBox="1"/>
          <p:nvPr/>
        </p:nvSpPr>
        <p:spPr>
          <a:xfrm>
            <a:off x="9271000" y="4826000"/>
            <a:ext cx="2218267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chemeClr val="accent2"/>
                </a:solidFill>
              </a:rPr>
              <a:t>10–20%</a:t>
            </a:r>
            <a:endParaRPr lang="en-US" sz="2800" dirty="0"/>
          </a:p>
        </p:txBody>
      </p:sp>
      <p:sp>
        <p:nvSpPr>
          <p:cNvPr id="28" name="Text-144"/>
          <p:cNvSpPr txBox="1"/>
          <p:nvPr/>
        </p:nvSpPr>
        <p:spPr>
          <a:xfrm>
            <a:off x="9271000" y="5367867"/>
            <a:ext cx="2218267" cy="474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fewer avoidable losses vs. a matched control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6667" y="6587067"/>
            <a:ext cx="643467" cy="220133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45"/>
          <p:cNvSpPr txBox="1"/>
          <p:nvPr/>
        </p:nvSpPr>
        <p:spPr>
          <a:xfrm>
            <a:off x="460544" y="334941"/>
            <a:ext cx="4563576" cy="184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b="1" spc="150" kern="0" dirty="0">
                <a:solidFill>
                  <a:srgbClr val="1E6B5C"/>
                </a:solidFill>
              </a:rPr>
              <a:t>THE ASK &amp; USE OF FUNDS</a:t>
            </a:r>
            <a:endParaRPr lang="en-US" sz="950" dirty="0"/>
          </a:p>
        </p:txBody>
      </p:sp>
      <p:sp>
        <p:nvSpPr>
          <p:cNvPr id="3" name="Text-146"/>
          <p:cNvSpPr txBox="1"/>
          <p:nvPr/>
        </p:nvSpPr>
        <p:spPr>
          <a:xfrm>
            <a:off x="460544" y="552653"/>
            <a:ext cx="8750342" cy="368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1C2833"/>
                </a:solidFill>
              </a:rPr>
              <a:t>We're raising </a:t>
            </a:r>
            <a:pPr indent="0" marL="0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C0392B"/>
                </a:solidFill>
              </a:rPr>
              <a:t>US$50,000</a:t>
            </a:r>
            <a:pPr indent="0" marL="0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1C2833"/>
                </a:solidFill>
              </a:rPr>
              <a:t> for season one</a:t>
            </a:r>
            <a:endParaRPr lang="en-US" sz="2200" dirty="0"/>
          </a:p>
        </p:txBody>
      </p:sp>
      <p:sp>
        <p:nvSpPr>
          <p:cNvPr id="4" name="Item number-147"/>
          <p:cNvSpPr/>
          <p:nvPr/>
        </p:nvSpPr>
        <p:spPr>
          <a:xfrm>
            <a:off x="460544" y="1105306"/>
            <a:ext cx="192591" cy="192591"/>
          </a:xfrm>
          <a:prstGeom prst="roundRect">
            <a:avLst>
              <a:gd name="adj" fmla="val 9496"/>
            </a:avLst>
          </a:prstGeom>
          <a:solidFill>
            <a:srgbClr val="C0392B"/>
          </a:solidFill>
          <a:ln/>
        </p:spPr>
      </p:sp>
      <p:sp>
        <p:nvSpPr>
          <p:cNvPr id="5" name="Text-148"/>
          <p:cNvSpPr txBox="1"/>
          <p:nvPr/>
        </p:nvSpPr>
        <p:spPr>
          <a:xfrm>
            <a:off x="460544" y="1105306"/>
            <a:ext cx="192591" cy="192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chemeClr val="bg1"/>
                </a:solidFill>
              </a:rPr>
              <a:t>1</a:t>
            </a:r>
            <a:endParaRPr lang="en-US" sz="750" dirty="0"/>
          </a:p>
        </p:txBody>
      </p:sp>
      <p:sp>
        <p:nvSpPr>
          <p:cNvPr id="6" name="Text-149"/>
          <p:cNvSpPr txBox="1"/>
          <p:nvPr/>
        </p:nvSpPr>
        <p:spPr>
          <a:xfrm>
            <a:off x="460544" y="1348139"/>
            <a:ext cx="3349413" cy="17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C2833"/>
                </a:solidFill>
              </a:rPr>
              <a:t>Field pilot — $12,000</a:t>
            </a:r>
            <a:endParaRPr lang="en-US" sz="1100" dirty="0"/>
          </a:p>
        </p:txBody>
      </p:sp>
      <p:sp>
        <p:nvSpPr>
          <p:cNvPr id="7" name="Text-150"/>
          <p:cNvSpPr txBox="1"/>
          <p:nvPr/>
        </p:nvSpPr>
        <p:spPr>
          <a:xfrm>
            <a:off x="460544" y="1549104"/>
            <a:ext cx="3349413" cy="142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4A5A55"/>
                </a:solidFill>
              </a:rPr>
              <a:t>Onboard 20–50 farmers in one co-op, then the first cluster</a:t>
            </a:r>
            <a:endParaRPr lang="en-US" sz="850" dirty="0"/>
          </a:p>
        </p:txBody>
      </p:sp>
      <p:sp>
        <p:nvSpPr>
          <p:cNvPr id="8" name="Item number-151"/>
          <p:cNvSpPr/>
          <p:nvPr/>
        </p:nvSpPr>
        <p:spPr>
          <a:xfrm>
            <a:off x="3960681" y="1105306"/>
            <a:ext cx="192591" cy="192591"/>
          </a:xfrm>
          <a:prstGeom prst="roundRect">
            <a:avLst>
              <a:gd name="adj" fmla="val 9496"/>
            </a:avLst>
          </a:prstGeom>
          <a:solidFill>
            <a:srgbClr val="C0392B"/>
          </a:solidFill>
          <a:ln/>
        </p:spPr>
      </p:sp>
      <p:sp>
        <p:nvSpPr>
          <p:cNvPr id="9" name="Text-152"/>
          <p:cNvSpPr txBox="1"/>
          <p:nvPr/>
        </p:nvSpPr>
        <p:spPr>
          <a:xfrm>
            <a:off x="3960681" y="1105306"/>
            <a:ext cx="192591" cy="192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chemeClr val="bg1"/>
                </a:solidFill>
              </a:rPr>
              <a:t>2</a:t>
            </a:r>
            <a:endParaRPr lang="en-US" sz="750" dirty="0"/>
          </a:p>
        </p:txBody>
      </p:sp>
      <p:sp>
        <p:nvSpPr>
          <p:cNvPr id="10" name="Text-153"/>
          <p:cNvSpPr txBox="1"/>
          <p:nvPr/>
        </p:nvSpPr>
        <p:spPr>
          <a:xfrm>
            <a:off x="3960681" y="1348139"/>
            <a:ext cx="3349413" cy="17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C2833"/>
                </a:solidFill>
              </a:rPr>
              <a:t>SMS, USSD &amp; data — $9,000</a:t>
            </a:r>
            <a:endParaRPr lang="en-US" sz="1100" dirty="0"/>
          </a:p>
        </p:txBody>
      </p:sp>
      <p:sp>
        <p:nvSpPr>
          <p:cNvPr id="11" name="Text-154"/>
          <p:cNvSpPr txBox="1"/>
          <p:nvPr/>
        </p:nvSpPr>
        <p:spPr>
          <a:xfrm>
            <a:off x="3960681" y="1549104"/>
            <a:ext cx="3349413" cy="142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4A5A55"/>
                </a:solidFill>
              </a:rPr>
              <a:t>Africa's Talking messaging, Copernicus pipeline, hosting</a:t>
            </a:r>
            <a:endParaRPr lang="en-US" sz="850" dirty="0"/>
          </a:p>
        </p:txBody>
      </p:sp>
      <p:sp>
        <p:nvSpPr>
          <p:cNvPr id="12" name="Item number-155"/>
          <p:cNvSpPr/>
          <p:nvPr/>
        </p:nvSpPr>
        <p:spPr>
          <a:xfrm>
            <a:off x="460544" y="1900792"/>
            <a:ext cx="192591" cy="192591"/>
          </a:xfrm>
          <a:prstGeom prst="roundRect">
            <a:avLst>
              <a:gd name="adj" fmla="val 9496"/>
            </a:avLst>
          </a:prstGeom>
          <a:solidFill>
            <a:srgbClr val="C0392B"/>
          </a:solidFill>
          <a:ln/>
        </p:spPr>
      </p:sp>
      <p:sp>
        <p:nvSpPr>
          <p:cNvPr id="13" name="Text-156"/>
          <p:cNvSpPr txBox="1"/>
          <p:nvPr/>
        </p:nvSpPr>
        <p:spPr>
          <a:xfrm>
            <a:off x="460544" y="1900792"/>
            <a:ext cx="192591" cy="192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chemeClr val="bg1"/>
                </a:solidFill>
              </a:rPr>
              <a:t>3</a:t>
            </a:r>
            <a:endParaRPr lang="en-US" sz="750" dirty="0"/>
          </a:p>
        </p:txBody>
      </p:sp>
      <p:sp>
        <p:nvSpPr>
          <p:cNvPr id="14" name="Text-157"/>
          <p:cNvSpPr txBox="1"/>
          <p:nvPr/>
        </p:nvSpPr>
        <p:spPr>
          <a:xfrm>
            <a:off x="460544" y="2143625"/>
            <a:ext cx="3349413" cy="17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C2833"/>
                </a:solidFill>
              </a:rPr>
              <a:t>Validation — $8,000</a:t>
            </a:r>
            <a:endParaRPr lang="en-US" sz="1100" dirty="0"/>
          </a:p>
        </p:txBody>
      </p:sp>
      <p:sp>
        <p:nvSpPr>
          <p:cNvPr id="15" name="Text-158"/>
          <p:cNvSpPr txBox="1"/>
          <p:nvPr/>
        </p:nvSpPr>
        <p:spPr>
          <a:xfrm>
            <a:off x="460544" y="2344589"/>
            <a:ext cx="3349413" cy="142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4A5A55"/>
                </a:solidFill>
              </a:rPr>
              <a:t>Seaweed specialists review every action, label outcomes</a:t>
            </a:r>
            <a:endParaRPr lang="en-US" sz="850" dirty="0"/>
          </a:p>
        </p:txBody>
      </p:sp>
      <p:sp>
        <p:nvSpPr>
          <p:cNvPr id="16" name="Item number-159"/>
          <p:cNvSpPr/>
          <p:nvPr/>
        </p:nvSpPr>
        <p:spPr>
          <a:xfrm>
            <a:off x="3960681" y="1900792"/>
            <a:ext cx="192591" cy="192591"/>
          </a:xfrm>
          <a:prstGeom prst="roundRect">
            <a:avLst>
              <a:gd name="adj" fmla="val 9496"/>
            </a:avLst>
          </a:prstGeom>
          <a:solidFill>
            <a:srgbClr val="C0392B"/>
          </a:solidFill>
          <a:ln/>
        </p:spPr>
      </p:sp>
      <p:sp>
        <p:nvSpPr>
          <p:cNvPr id="17" name="Text-160"/>
          <p:cNvSpPr txBox="1"/>
          <p:nvPr/>
        </p:nvSpPr>
        <p:spPr>
          <a:xfrm>
            <a:off x="3960681" y="1900792"/>
            <a:ext cx="192591" cy="192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chemeClr val="bg1"/>
                </a:solidFill>
              </a:rPr>
              <a:t>4</a:t>
            </a:r>
            <a:endParaRPr lang="en-US" sz="750" dirty="0"/>
          </a:p>
        </p:txBody>
      </p:sp>
      <p:sp>
        <p:nvSpPr>
          <p:cNvPr id="18" name="Text-161"/>
          <p:cNvSpPr txBox="1"/>
          <p:nvPr/>
        </p:nvSpPr>
        <p:spPr>
          <a:xfrm>
            <a:off x="3960681" y="2143625"/>
            <a:ext cx="3349413" cy="17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C2833"/>
                </a:solidFill>
              </a:rPr>
              <a:t>Build — $14,000</a:t>
            </a:r>
            <a:endParaRPr lang="en-US" sz="1100" dirty="0"/>
          </a:p>
        </p:txBody>
      </p:sp>
      <p:sp>
        <p:nvSpPr>
          <p:cNvPr id="19" name="Text-162"/>
          <p:cNvSpPr txBox="1"/>
          <p:nvPr/>
        </p:nvSpPr>
        <p:spPr>
          <a:xfrm>
            <a:off x="3960681" y="2344589"/>
            <a:ext cx="3349413" cy="142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4A5A55"/>
                </a:solidFill>
              </a:rPr>
              <a:t>Move the prototype to the production risk service</a:t>
            </a:r>
            <a:endParaRPr lang="en-US" sz="850" dirty="0"/>
          </a:p>
        </p:txBody>
      </p:sp>
      <p:sp>
        <p:nvSpPr>
          <p:cNvPr id="20" name="Budget card-163"/>
          <p:cNvSpPr/>
          <p:nvPr/>
        </p:nvSpPr>
        <p:spPr>
          <a:xfrm>
            <a:off x="7017021" y="2696278"/>
            <a:ext cx="4714299" cy="2955857"/>
          </a:xfrm>
          <a:prstGeom prst="roundRect">
            <a:avLst>
              <a:gd name="adj" fmla="val 3712"/>
            </a:avLst>
          </a:prstGeom>
          <a:solidFill>
            <a:srgbClr val="EDF2EB"/>
          </a:solidFill>
          <a:ln/>
        </p:spPr>
      </p:sp>
      <p:sp>
        <p:nvSpPr>
          <p:cNvPr id="21" name="Text-164"/>
          <p:cNvSpPr txBox="1"/>
          <p:nvPr/>
        </p:nvSpPr>
        <p:spPr>
          <a:xfrm>
            <a:off x="7209612" y="2847001"/>
            <a:ext cx="3675981" cy="21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11111"/>
                </a:solidFill>
              </a:rPr>
              <a:t>Budget breakdown</a:t>
            </a:r>
            <a:endParaRPr lang="en-US" sz="1150" dirty="0"/>
          </a:p>
        </p:txBody>
      </p:sp>
      <p:sp>
        <p:nvSpPr>
          <p:cNvPr id="22" name="Text-165"/>
          <p:cNvSpPr txBox="1"/>
          <p:nvPr/>
        </p:nvSpPr>
        <p:spPr>
          <a:xfrm>
            <a:off x="7209612" y="3098207"/>
            <a:ext cx="2838628" cy="20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C2833"/>
                </a:solidFill>
              </a:rPr>
              <a:t>Field pilot</a:t>
            </a:r>
            <a:endParaRPr lang="en-US" sz="900" dirty="0"/>
          </a:p>
        </p:txBody>
      </p:sp>
      <p:sp>
        <p:nvSpPr>
          <p:cNvPr id="23" name="Text-166"/>
          <p:cNvSpPr txBox="1"/>
          <p:nvPr/>
        </p:nvSpPr>
        <p:spPr>
          <a:xfrm>
            <a:off x="10048240" y="3098207"/>
            <a:ext cx="1490489" cy="20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1C2833"/>
                </a:solidFill>
              </a:rPr>
              <a:t>$12,000</a:t>
            </a:r>
            <a:endParaRPr lang="en-US" sz="900" dirty="0"/>
          </a:p>
        </p:txBody>
      </p:sp>
      <p:sp>
        <p:nvSpPr>
          <p:cNvPr id="24" name="Row rule-167"/>
          <p:cNvSpPr/>
          <p:nvPr/>
        </p:nvSpPr>
        <p:spPr>
          <a:xfrm>
            <a:off x="7209612" y="3332666"/>
            <a:ext cx="4329117" cy="0"/>
          </a:xfrm>
          <a:prstGeom prst="line">
            <a:avLst/>
          </a:prstGeom>
          <a:noFill/>
          <a:ln w="9525">
            <a:solidFill>
              <a:srgbClr val="C7CBBD"/>
            </a:solidFill>
            <a:prstDash val="solid"/>
          </a:ln>
        </p:spPr>
      </p:sp>
      <p:sp>
        <p:nvSpPr>
          <p:cNvPr id="25" name="Text-168"/>
          <p:cNvSpPr txBox="1"/>
          <p:nvPr/>
        </p:nvSpPr>
        <p:spPr>
          <a:xfrm>
            <a:off x="7209612" y="3379558"/>
            <a:ext cx="2838628" cy="20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C2833"/>
                </a:solidFill>
              </a:rPr>
              <a:t>SMS, USSD &amp; data</a:t>
            </a:r>
            <a:endParaRPr lang="en-US" sz="900" dirty="0"/>
          </a:p>
        </p:txBody>
      </p:sp>
      <p:sp>
        <p:nvSpPr>
          <p:cNvPr id="26" name="Text-169"/>
          <p:cNvSpPr txBox="1"/>
          <p:nvPr/>
        </p:nvSpPr>
        <p:spPr>
          <a:xfrm>
            <a:off x="10048240" y="3379558"/>
            <a:ext cx="1490489" cy="20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1C2833"/>
                </a:solidFill>
              </a:rPr>
              <a:t>$9,000</a:t>
            </a:r>
            <a:endParaRPr lang="en-US" sz="900" dirty="0"/>
          </a:p>
        </p:txBody>
      </p:sp>
      <p:sp>
        <p:nvSpPr>
          <p:cNvPr id="27" name="Row rule-170"/>
          <p:cNvSpPr/>
          <p:nvPr/>
        </p:nvSpPr>
        <p:spPr>
          <a:xfrm>
            <a:off x="7209612" y="3614017"/>
            <a:ext cx="4329117" cy="0"/>
          </a:xfrm>
          <a:prstGeom prst="line">
            <a:avLst/>
          </a:prstGeom>
          <a:noFill/>
          <a:ln w="9525">
            <a:solidFill>
              <a:srgbClr val="C7CBBD"/>
            </a:solidFill>
            <a:prstDash val="solid"/>
          </a:ln>
        </p:spPr>
      </p:sp>
      <p:sp>
        <p:nvSpPr>
          <p:cNvPr id="28" name="Text-171"/>
          <p:cNvSpPr txBox="1"/>
          <p:nvPr/>
        </p:nvSpPr>
        <p:spPr>
          <a:xfrm>
            <a:off x="7209612" y="3660909"/>
            <a:ext cx="2838628" cy="20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C2833"/>
                </a:solidFill>
              </a:rPr>
              <a:t>Validation</a:t>
            </a:r>
            <a:endParaRPr lang="en-US" sz="900" dirty="0"/>
          </a:p>
        </p:txBody>
      </p:sp>
      <p:sp>
        <p:nvSpPr>
          <p:cNvPr id="29" name="Text-172"/>
          <p:cNvSpPr txBox="1"/>
          <p:nvPr/>
        </p:nvSpPr>
        <p:spPr>
          <a:xfrm>
            <a:off x="10048240" y="3660909"/>
            <a:ext cx="1490489" cy="20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1C2833"/>
                </a:solidFill>
              </a:rPr>
              <a:t>$8,000</a:t>
            </a:r>
            <a:endParaRPr lang="en-US" sz="900" dirty="0"/>
          </a:p>
        </p:txBody>
      </p:sp>
      <p:sp>
        <p:nvSpPr>
          <p:cNvPr id="30" name="Row rule-173"/>
          <p:cNvSpPr/>
          <p:nvPr/>
        </p:nvSpPr>
        <p:spPr>
          <a:xfrm>
            <a:off x="7209612" y="3895368"/>
            <a:ext cx="4329117" cy="0"/>
          </a:xfrm>
          <a:prstGeom prst="line">
            <a:avLst/>
          </a:prstGeom>
          <a:noFill/>
          <a:ln w="9525">
            <a:solidFill>
              <a:srgbClr val="C7CBBD"/>
            </a:solidFill>
            <a:prstDash val="solid"/>
          </a:ln>
        </p:spPr>
      </p:sp>
      <p:sp>
        <p:nvSpPr>
          <p:cNvPr id="31" name="Text-174"/>
          <p:cNvSpPr txBox="1"/>
          <p:nvPr/>
        </p:nvSpPr>
        <p:spPr>
          <a:xfrm>
            <a:off x="7209612" y="3942259"/>
            <a:ext cx="2838628" cy="20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C2833"/>
                </a:solidFill>
              </a:rPr>
              <a:t>Build</a:t>
            </a:r>
            <a:endParaRPr lang="en-US" sz="900" dirty="0"/>
          </a:p>
        </p:txBody>
      </p:sp>
      <p:sp>
        <p:nvSpPr>
          <p:cNvPr id="32" name="Text-175"/>
          <p:cNvSpPr txBox="1"/>
          <p:nvPr/>
        </p:nvSpPr>
        <p:spPr>
          <a:xfrm>
            <a:off x="10048240" y="3942259"/>
            <a:ext cx="1490489" cy="20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1C2833"/>
                </a:solidFill>
              </a:rPr>
              <a:t>$14,000</a:t>
            </a:r>
            <a:endParaRPr lang="en-US" sz="900" dirty="0"/>
          </a:p>
        </p:txBody>
      </p:sp>
      <p:sp>
        <p:nvSpPr>
          <p:cNvPr id="33" name="Row rule-176"/>
          <p:cNvSpPr/>
          <p:nvPr/>
        </p:nvSpPr>
        <p:spPr>
          <a:xfrm>
            <a:off x="7209612" y="4176718"/>
            <a:ext cx="4329117" cy="0"/>
          </a:xfrm>
          <a:prstGeom prst="line">
            <a:avLst/>
          </a:prstGeom>
          <a:noFill/>
          <a:ln w="9525">
            <a:solidFill>
              <a:srgbClr val="C7CBBD"/>
            </a:solidFill>
            <a:prstDash val="solid"/>
          </a:ln>
        </p:spPr>
      </p:sp>
      <p:sp>
        <p:nvSpPr>
          <p:cNvPr id="34" name="Text-177"/>
          <p:cNvSpPr txBox="1"/>
          <p:nvPr/>
        </p:nvSpPr>
        <p:spPr>
          <a:xfrm>
            <a:off x="7209612" y="4223610"/>
            <a:ext cx="2838628" cy="20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C2833"/>
                </a:solidFill>
              </a:rPr>
              <a:t>Runway &amp; contingency</a:t>
            </a:r>
            <a:endParaRPr lang="en-US" sz="900" dirty="0"/>
          </a:p>
        </p:txBody>
      </p:sp>
      <p:sp>
        <p:nvSpPr>
          <p:cNvPr id="35" name="Text-178"/>
          <p:cNvSpPr txBox="1"/>
          <p:nvPr/>
        </p:nvSpPr>
        <p:spPr>
          <a:xfrm>
            <a:off x="10048240" y="4223610"/>
            <a:ext cx="1490489" cy="20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1C2833"/>
                </a:solidFill>
              </a:rPr>
              <a:t>$7,000</a:t>
            </a:r>
            <a:endParaRPr lang="en-US" sz="900" dirty="0"/>
          </a:p>
        </p:txBody>
      </p:sp>
      <p:sp>
        <p:nvSpPr>
          <p:cNvPr id="36" name="Total rule"/>
          <p:cNvSpPr/>
          <p:nvPr/>
        </p:nvSpPr>
        <p:spPr>
          <a:xfrm>
            <a:off x="7209612" y="4454720"/>
            <a:ext cx="4329117" cy="0"/>
          </a:xfrm>
          <a:prstGeom prst="line">
            <a:avLst/>
          </a:prstGeom>
          <a:noFill/>
          <a:ln w="19050">
            <a:solidFill>
              <a:srgbClr val="1C2833"/>
            </a:solidFill>
            <a:prstDash val="solid"/>
          </a:ln>
        </p:spPr>
      </p:sp>
      <p:sp>
        <p:nvSpPr>
          <p:cNvPr id="37" name="Text-179"/>
          <p:cNvSpPr txBox="1"/>
          <p:nvPr/>
        </p:nvSpPr>
        <p:spPr>
          <a:xfrm>
            <a:off x="7209612" y="4538455"/>
            <a:ext cx="2838628" cy="21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C2833"/>
                </a:solidFill>
              </a:rPr>
              <a:t>Total ask</a:t>
            </a:r>
            <a:endParaRPr lang="en-US" sz="1100" dirty="0"/>
          </a:p>
        </p:txBody>
      </p:sp>
      <p:sp>
        <p:nvSpPr>
          <p:cNvPr id="38" name="Text-180"/>
          <p:cNvSpPr txBox="1"/>
          <p:nvPr/>
        </p:nvSpPr>
        <p:spPr>
          <a:xfrm>
            <a:off x="10048240" y="4538455"/>
            <a:ext cx="1490489" cy="21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C0392B"/>
                </a:solidFill>
              </a:rPr>
              <a:t>$50,000</a:t>
            </a:r>
            <a:endParaRPr lang="en-US" sz="1200" dirty="0"/>
          </a:p>
        </p:txBody>
      </p:sp>
      <p:sp>
        <p:nvSpPr>
          <p:cNvPr id="39" name="Runway box-181"/>
          <p:cNvSpPr/>
          <p:nvPr/>
        </p:nvSpPr>
        <p:spPr>
          <a:xfrm>
            <a:off x="7209612" y="4932011"/>
            <a:ext cx="4329117" cy="535906"/>
          </a:xfrm>
          <a:prstGeom prst="roundRect">
            <a:avLst>
              <a:gd name="adj" fmla="val 13650"/>
            </a:avLst>
          </a:prstGeom>
          <a:solidFill>
            <a:srgbClr val="171F2A"/>
          </a:solidFill>
          <a:ln/>
        </p:spPr>
      </p:sp>
      <p:sp>
        <p:nvSpPr>
          <p:cNvPr id="40" name="Text-182"/>
          <p:cNvSpPr txBox="1"/>
          <p:nvPr/>
        </p:nvSpPr>
        <p:spPr>
          <a:xfrm>
            <a:off x="7335215" y="5007373"/>
            <a:ext cx="4136525" cy="21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chemeClr val="bg1"/>
                </a:solidFill>
              </a:rPr>
              <a:t>~6 months runway</a:t>
            </a:r>
            <a:endParaRPr lang="en-US" sz="1200" dirty="0"/>
          </a:p>
        </p:txBody>
      </p:sp>
      <p:sp>
        <p:nvSpPr>
          <p:cNvPr id="41" name="Text-183"/>
          <p:cNvSpPr txBox="1"/>
          <p:nvPr/>
        </p:nvSpPr>
        <p:spPr>
          <a:xfrm>
            <a:off x="7335215" y="5225085"/>
            <a:ext cx="4136525" cy="150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C9CFCB"/>
                </a:solidFill>
              </a:rPr>
              <a:t>From pilot launch through validated results and first paid co-op licence.</a:t>
            </a:r>
            <a:endParaRPr lang="en-US" sz="750" dirty="0"/>
          </a:p>
        </p:txBody>
      </p:sp>
      <p:sp>
        <p:nvSpPr>
          <p:cNvPr id="42" name="Divider"/>
          <p:cNvSpPr/>
          <p:nvPr/>
        </p:nvSpPr>
        <p:spPr>
          <a:xfrm>
            <a:off x="460544" y="5878220"/>
            <a:ext cx="11270776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43" name="Text-184"/>
          <p:cNvSpPr txBox="1"/>
          <p:nvPr/>
        </p:nvSpPr>
        <p:spPr>
          <a:xfrm>
            <a:off x="460544" y="5995450"/>
            <a:ext cx="11262402" cy="20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C2833"/>
                </a:solidFill>
              </a:rPr>
              <a:t>Unlocks: </a:t>
            </a:r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C2833"/>
                </a:solidFill>
              </a:rPr>
              <a:t>live farmer results, the first paid co-op or programme licence, and ~6 months of runway.</a:t>
            </a:r>
            <a:endParaRPr lang="en-US" sz="1000" dirty="0"/>
          </a:p>
        </p:txBody>
      </p:sp>
      <p:sp>
        <p:nvSpPr>
          <p:cNvPr id="44" name="Text-185"/>
          <p:cNvSpPr txBox="1"/>
          <p:nvPr/>
        </p:nvSpPr>
        <p:spPr>
          <a:xfrm>
            <a:off x="460544" y="6238282"/>
            <a:ext cx="11262402" cy="21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i="1" dirty="0">
                <a:solidFill>
                  <a:srgbClr val="1C2833"/>
                </a:solidFill>
              </a:rPr>
              <a:t>"Every seaweed farmer in Zanzibar should know </a:t>
            </a:r>
            <a:pPr indent="0" marL="0">
              <a:lnSpc>
                <a:spcPct val="95000"/>
              </a:lnSpc>
              <a:buNone/>
            </a:pPr>
            <a:r>
              <a:rPr lang="en-US" sz="1100" b="1" i="1" u="sng" dirty="0">
                <a:solidFill>
                  <a:srgbClr val="1C2833"/>
                </a:solidFill>
              </a:rPr>
              <a:t>what the sea will do</a:t>
            </a:r>
            <a:pPr indent="0" marL="0">
              <a:lnSpc>
                <a:spcPct val="95000"/>
              </a:lnSpc>
              <a:buNone/>
            </a:pPr>
            <a:r>
              <a:rPr lang="en-US" sz="1100" b="1" i="1" dirty="0">
                <a:solidFill>
                  <a:srgbClr val="1C2833"/>
                </a:solidFill>
              </a:rPr>
              <a:t> — and </a:t>
            </a:r>
            <a:pPr indent="0" marL="0">
              <a:lnSpc>
                <a:spcPct val="95000"/>
              </a:lnSpc>
              <a:buNone/>
            </a:pPr>
            <a:r>
              <a:rPr lang="en-US" sz="1100" b="1" i="1" u="sng" dirty="0">
                <a:solidFill>
                  <a:srgbClr val="1C2833"/>
                </a:solidFill>
              </a:rPr>
              <a:t>what to do about it.</a:t>
            </a:r>
            <a:pPr indent="0" marL="0">
              <a:lnSpc>
                <a:spcPct val="95000"/>
              </a:lnSpc>
              <a:buNone/>
            </a:pPr>
            <a:r>
              <a:rPr lang="en-US" sz="1100" b="1" i="1" dirty="0">
                <a:solidFill>
                  <a:srgbClr val="1C2833"/>
                </a:solidFill>
              </a:rPr>
              <a:t>"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86"/>
          <p:cNvSpPr txBox="1"/>
          <p:nvPr/>
        </p:nvSpPr>
        <p:spPr>
          <a:xfrm>
            <a:off x="2540000" y="1820333"/>
            <a:ext cx="7112000" cy="17780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600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</a:t>
            </a:r>
            <a:endParaRPr lang="en-US" sz="9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waniMlinzi">
  <a:themeElements>
    <a:clrScheme name="MwaniMlinzi">
      <a:dk1>
        <a:srgbClr val="1A1A1A"/>
      </a:dk1>
      <a:lt1>
        <a:srgbClr val="FFFFFF"/>
      </a:lt1>
      <a:dk2>
        <a:srgbClr val="12324A"/>
      </a:dk2>
      <a:lt2>
        <a:srgbClr val="C9DCC6"/>
      </a:lt2>
      <a:accent1>
        <a:srgbClr val="466F49"/>
      </a:accent1>
      <a:accent2>
        <a:srgbClr val="E73D2A"/>
      </a:accent2>
      <a:accent3>
        <a:srgbClr val="C8781A"/>
      </a:accent3>
      <a:accent4>
        <a:srgbClr val="2E7D32"/>
      </a:accent4>
      <a:accent5>
        <a:srgbClr val="5170FF"/>
      </a:accent5>
      <a:accent6>
        <a:srgbClr val="55833D"/>
      </a:accent6>
      <a:hlink>
        <a:srgbClr val="5170FF"/>
      </a:hlink>
      <a:folHlink>
        <a:srgbClr val="466F49"/>
      </a:folHlink>
    </a:clrScheme>
    <a:fontScheme name="MwaniMlinzi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MwaniMlinzi AI — Bahari Ops pitch deck</dc:title>
  <dc:subject>PptxGenJS Presentation</dc:subject>
  <dc:creator>Bahari Ops</dc:creator>
  <cp:lastModifiedBy>Bahari Ops</cp:lastModifiedBy>
  <cp:revision>1</cp:revision>
  <dcterms:created xsi:type="dcterms:W3CDTF">2026-10-05T08:55:10Z</dcterms:created>
  <dcterms:modified xsi:type="dcterms:W3CDTF">2026-10-05T08:55:10Z</dcterms:modified>
</cp:coreProperties>
</file>